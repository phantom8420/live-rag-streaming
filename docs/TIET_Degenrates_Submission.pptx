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6162E"/>
                </a:solidFill>
                <a:latin typeface="Calibri"/>
              </a:rPr>
              <a:t>Held-out test split (30 conversations, 39 turns), %</a:t>
            </a:r>
          </a:p>
        </c:rich>
      </c:tx>
      <c:layout/>
      <c:overlay val="0"/>
    </c:title>
    <c:autoTitleDeleted val="0"/>
    <c:plotArea>
      <c:barChart>
        <c:barDir val="bar"/>
        <c:grouping val="clustered"/>
        <c:ser>
          <c:idx val="0"/>
          <c:order val="0"/>
          <c:tx>
            <c:strRef>
              <c:f>Sheet1!$B$1</c:f>
              <c:strCache>
                <c:ptCount val="1"/>
                <c:pt idx="0">
                  <c:v>Streaming engine</c:v>
                </c:pt>
              </c:strCache>
            </c:strRef>
          </c:tx>
          <c:spPr>
            <a:solidFill>
              <a:srgbClr val="6D28D9"/>
            </a:solidFill>
          </c:spPr>
          <c:cat>
            <c:strRef>
              <c:f>Sheet1!$A$2:$A$6</c:f>
              <c:strCache>
                <c:ptCount val="5"/>
                <c:pt idx="0">
                  <c:v>G2 early retrieval</c:v>
                </c:pt>
                <c:pt idx="1">
                  <c:v>G3 compound split</c:v>
                </c:pt>
                <c:pt idx="2">
                  <c:v>G4 citation precision</c:v>
                </c:pt>
                <c:pt idx="3">
                  <c:v>Intent coverage</c:v>
                </c:pt>
                <c:pt idx="4">
                  <c:v>G5 state preserved</c:v>
                </c:pt>
              </c:strCache>
            </c:strRef>
          </c:cat>
          <c:val>
            <c:numRef>
              <c:f>Sheet1!$B$2:$B$6</c:f>
              <c:numCache>
                <c:formatCode>General</c:formatCode>
                <c:ptCount val="5"/>
                <c:pt idx="0">
                  <c:v>90.6</c:v>
                </c:pt>
                <c:pt idx="1">
                  <c:v>100.0</c:v>
                </c:pt>
                <c:pt idx="2">
                  <c:v>95.3</c:v>
                </c:pt>
                <c:pt idx="3">
                  <c:v>97.6</c:v>
                </c:pt>
                <c:pt idx="4">
                  <c:v>75.0</c:v>
                </c:pt>
              </c:numCache>
            </c:numRef>
          </c:val>
        </c:ser>
        <c:ser>
          <c:idx val="1"/>
          <c:order val="1"/>
          <c:tx>
            <c:strRef>
              <c:f>Sheet1!$C$1</c:f>
              <c:strCache>
                <c:ptCount val="1"/>
                <c:pt idx="0">
                  <c:v>Batch baseline</c:v>
                </c:pt>
              </c:strCache>
            </c:strRef>
          </c:tx>
          <c:spPr>
            <a:solidFill>
              <a:srgbClr val="B9B4C9"/>
            </a:solidFill>
          </c:spPr>
          <c:cat>
            <c:strRef>
              <c:f>Sheet1!$A$2:$A$6</c:f>
              <c:strCache>
                <c:ptCount val="5"/>
                <c:pt idx="0">
                  <c:v>G2 early retrieval</c:v>
                </c:pt>
                <c:pt idx="1">
                  <c:v>G3 compound split</c:v>
                </c:pt>
                <c:pt idx="2">
                  <c:v>G4 citation precision</c:v>
                </c:pt>
                <c:pt idx="3">
                  <c:v>Intent coverage</c:v>
                </c:pt>
                <c:pt idx="4">
                  <c:v>G5 state preserved</c:v>
                </c:pt>
              </c:strCache>
            </c:strRef>
          </c:cat>
          <c:val>
            <c:numRef>
              <c:f>Sheet1!$C$2:$C$6</c:f>
              <c:numCache>
                <c:formatCode>General</c:formatCode>
                <c:ptCount val="5"/>
                <c:pt idx="0">
                  <c:v>0.0</c:v>
                </c:pt>
                <c:pt idx="1">
                  <c:v>0.0</c:v>
                </c:pt>
                <c:pt idx="2">
                  <c:v>76.5</c:v>
                </c:pt>
                <c:pt idx="3">
                  <c:v>90.2</c:v>
                </c:pt>
                <c:pt idx="4">
                  <c:v>0.0</c:v>
                </c:pt>
              </c:numCache>
            </c:numRef>
          </c:val>
        </c:ser>
        <c:dLbls>
          <c:numFmt formatCode="General" sourceLinked="0"/>
          <c:txPr>
            <a:bodyPr/>
            <a:lstStyle/>
            <a:p>
              <a:pPr>
                <a:defRPr sz="1000">
                  <a:solidFill>
                    <a:srgbClr val="16162E"/>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axMin"/>
        </c:scaling>
        <c:delete val="0"/>
        <c:axPos val="l"/>
        <c:majorTickMark val="out"/>
        <c:minorTickMark val="none"/>
        <c:tickLblPos val="nextTo"/>
        <c:spPr>
          <a:ln>
            <a:solidFill>
              <a:srgbClr val="D9D3E8"/>
            </a:solidFill>
          </a:ln>
        </c:spPr>
        <c:txPr>
          <a:bodyPr/>
          <a:lstStyle/>
          <a:p>
            <a:pPr>
              <a:defRPr sz="1100">
                <a:solidFill>
                  <a:srgbClr val="16162E"/>
                </a:solidFill>
              </a:defRPr>
            </a:pPr>
          </a:p>
        </c:txPr>
        <c:crossAx val="-2113994440"/>
        <c:crosses val="autoZero"/>
        <c:auto val="1"/>
        <c:lblAlgn val="ctr"/>
        <c:lblOffset val="100"/>
        <c:noMultiLvlLbl val="0"/>
      </c:catAx>
      <c:valAx>
        <c:axId val="-2113994440"/>
        <c:scaling>
          <c:max val="112.0"/>
          <c:min val="0.0"/>
        </c:scaling>
        <c:delete/>
        <c:axPos val="b"/>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- 4 — Streaming Live RAG</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Degenrates</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Thapar Institute of Engineering &amp; Technology, Patiala</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Name &amp; Email 1- Ishaan Jain, ijain_be25@thapar.edu</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Name &amp; Email 2- Saksham Kaushal, skaushal_be25@thapar.edu</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Member Name &amp; Email 3- Abhishek Rath, arath_be25@thapar.edu</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Member Name &amp; Email 4-</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a:t>
            </a:r>
            <a:r>
              <a:rPr lang="en-US" sz="1600" dirty="0" err="1">
                <a:solidFill>
                  <a:srgbClr val="63637E"/>
                </a:solidFill>
                <a:latin typeface="Calibri" pitchFamily="34" charset="0"/>
                <a:ea typeface="Calibri" pitchFamily="34" charset="-122"/>
                <a:cs typeface="Calibri" pitchFamily="34" charset="-120"/>
              </a:rPr>
              <a:t>Github</a:t>
            </a:r>
            <a:r>
              <a:rPr lang="en-US" sz="1600" dirty="0">
                <a:solidFill>
                  <a:srgbClr val="63637E"/>
                </a:solidFill>
                <a:latin typeface="Calibri" pitchFamily="34" charset="0"/>
                <a:ea typeface="Calibri" pitchFamily="34" charset="-122"/>
                <a:cs typeface="Calibri" pitchFamily="34" charset="-120"/>
              </a:rPr>
              <a:t> link -  github.com/Phantom8420/Live-Rag-Streaming</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841248" y="1417320"/>
            <a:ext cx="10515600" cy="457200"/>
          </a:xfrm>
          <a:prstGeom prst="rect">
            <a:avLst/>
          </a:prstGeom>
          <a:noFill/>
        </p:spPr>
        <p:txBody>
          <a:bodyPr wrap="square" anchor="t" lIns="0" rIns="0" tIns="0" bIns="0">
            <a:spAutoFit/>
          </a:bodyPr>
          <a:lstStyle/>
          <a:p>
            <a:pPr algn="l">
              <a:spcAft>
                <a:spcPts val="400"/>
              </a:spcAft>
            </a:pPr>
            <a:r>
              <a:rPr sz="1700" b="1" i="0">
                <a:solidFill>
                  <a:srgbClr val="16162E"/>
                </a:solidFill>
                <a:latin typeface="Calibri"/>
              </a:rPr>
              <a:t>Theme 4 · Streaming Live RAG — </a:t>
            </a:r>
            <a:r>
              <a:rPr sz="1700" b="0" i="0">
                <a:solidFill>
                  <a:srgbClr val="5B5B6E"/>
                </a:solidFill>
                <a:latin typeface="Calibri"/>
              </a:rPr>
              <a:t>real-time incremental retrieval, multi-intent decomposition and state-preserving answer refinement</a:t>
            </a:r>
          </a:p>
        </p:txBody>
      </p:sp>
      <p:sp>
        <p:nvSpPr>
          <p:cNvPr id="4" name="TextBox 3"/>
          <p:cNvSpPr txBox="1"/>
          <p:nvPr/>
        </p:nvSpPr>
        <p:spPr>
          <a:xfrm>
            <a:off x="841248" y="2057400"/>
            <a:ext cx="4846320" cy="365760"/>
          </a:xfrm>
          <a:prstGeom prst="rect">
            <a:avLst/>
          </a:prstGeom>
          <a:noFill/>
        </p:spPr>
        <p:txBody>
          <a:bodyPr wrap="square" anchor="t" lIns="0" rIns="0" tIns="0" bIns="0">
            <a:spAutoFit/>
          </a:bodyPr>
          <a:lstStyle/>
          <a:p>
            <a:pPr algn="l">
              <a:spcAft>
                <a:spcPts val="400"/>
              </a:spcAft>
            </a:pPr>
            <a:r>
              <a:rPr sz="1500" b="1" i="0">
                <a:solidFill>
                  <a:srgbClr val="6D28D9"/>
                </a:solidFill>
                <a:latin typeface="Calibri"/>
              </a:rPr>
              <a:t>Why batch RAG breaks in live conversation</a:t>
            </a:r>
          </a:p>
        </p:txBody>
      </p:sp>
      <p:sp>
        <p:nvSpPr>
          <p:cNvPr id="5" name="Rounded Rectangle 4"/>
          <p:cNvSpPr/>
          <p:nvPr/>
        </p:nvSpPr>
        <p:spPr>
          <a:xfrm>
            <a:off x="841248" y="2514600"/>
            <a:ext cx="4846320" cy="1078992"/>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24128" y="2816352"/>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691640" y="2642616"/>
            <a:ext cx="3840480" cy="36576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High conversational latency</a:t>
            </a:r>
          </a:p>
        </p:txBody>
      </p:sp>
      <p:sp>
        <p:nvSpPr>
          <p:cNvPr id="8" name="TextBox 7"/>
          <p:cNvSpPr txBox="1"/>
          <p:nvPr/>
        </p:nvSpPr>
        <p:spPr>
          <a:xfrm>
            <a:off x="1691640" y="2971800"/>
            <a:ext cx="3840480" cy="594360"/>
          </a:xfrm>
          <a:prstGeom prst="rect">
            <a:avLst/>
          </a:prstGeom>
          <a:noFill/>
        </p:spPr>
        <p:txBody>
          <a:bodyPr wrap="square" anchor="t" lIns="0" rIns="0" tIns="0" bIns="0">
            <a:spAutoFit/>
          </a:bodyPr>
          <a:lstStyle/>
          <a:p>
            <a:pPr algn="l">
              <a:spcAft>
                <a:spcPts val="400"/>
              </a:spcAft>
            </a:pPr>
            <a:r>
              <a:rPr sz="1250" b="0" i="0">
                <a:solidFill>
                  <a:srgbClr val="5B5B6E"/>
                </a:solidFill>
                <a:latin typeface="Calibri"/>
              </a:rPr>
              <a:t>Search starts only after a multi-sentence utterance ends — seconds of dead air.</a:t>
            </a:r>
          </a:p>
        </p:txBody>
      </p:sp>
      <p:sp>
        <p:nvSpPr>
          <p:cNvPr id="9" name="Rounded Rectangle 8"/>
          <p:cNvSpPr/>
          <p:nvPr/>
        </p:nvSpPr>
        <p:spPr>
          <a:xfrm>
            <a:off x="841248" y="3749039"/>
            <a:ext cx="4846320" cy="1078992"/>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24128" y="4050791"/>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1" name="TextBox 10"/>
          <p:cNvSpPr txBox="1"/>
          <p:nvPr/>
        </p:nvSpPr>
        <p:spPr>
          <a:xfrm>
            <a:off x="1691640" y="3877055"/>
            <a:ext cx="3840480" cy="36576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Compound requests</a:t>
            </a:r>
          </a:p>
        </p:txBody>
      </p:sp>
      <p:sp>
        <p:nvSpPr>
          <p:cNvPr id="12" name="TextBox 11"/>
          <p:cNvSpPr txBox="1"/>
          <p:nvPr/>
        </p:nvSpPr>
        <p:spPr>
          <a:xfrm>
            <a:off x="1691640" y="4206240"/>
            <a:ext cx="3840480" cy="594360"/>
          </a:xfrm>
          <a:prstGeom prst="rect">
            <a:avLst/>
          </a:prstGeom>
          <a:noFill/>
        </p:spPr>
        <p:txBody>
          <a:bodyPr wrap="square" anchor="t" lIns="0" rIns="0" tIns="0" bIns="0">
            <a:spAutoFit/>
          </a:bodyPr>
          <a:lstStyle/>
          <a:p>
            <a:pPr algn="l">
              <a:spcAft>
                <a:spcPts val="400"/>
              </a:spcAft>
            </a:pPr>
            <a:r>
              <a:rPr sz="1250" b="0" i="0">
                <a:solidFill>
                  <a:srgbClr val="5B5B6E"/>
                </a:solidFill>
                <a:latin typeface="Calibri"/>
              </a:rPr>
              <a:t>“Venue capacity + cancellation policy + catering” arrives as one stream of speech.</a:t>
            </a:r>
          </a:p>
        </p:txBody>
      </p:sp>
      <p:sp>
        <p:nvSpPr>
          <p:cNvPr id="13" name="Rounded Rectangle 12"/>
          <p:cNvSpPr/>
          <p:nvPr/>
        </p:nvSpPr>
        <p:spPr>
          <a:xfrm>
            <a:off x="841248" y="4983480"/>
            <a:ext cx="4846320" cy="1078992"/>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5285232"/>
            <a:ext cx="475488" cy="47548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5" name="TextBox 14"/>
          <p:cNvSpPr txBox="1"/>
          <p:nvPr/>
        </p:nvSpPr>
        <p:spPr>
          <a:xfrm>
            <a:off x="1691640" y="5111496"/>
            <a:ext cx="3840480" cy="36576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Late-arriving constraints</a:t>
            </a:r>
          </a:p>
        </p:txBody>
      </p:sp>
      <p:sp>
        <p:nvSpPr>
          <p:cNvPr id="16" name="TextBox 15"/>
          <p:cNvSpPr txBox="1"/>
          <p:nvPr/>
        </p:nvSpPr>
        <p:spPr>
          <a:xfrm>
            <a:off x="1691640" y="5440680"/>
            <a:ext cx="3840480" cy="594360"/>
          </a:xfrm>
          <a:prstGeom prst="rect">
            <a:avLst/>
          </a:prstGeom>
          <a:noFill/>
        </p:spPr>
        <p:txBody>
          <a:bodyPr wrap="square" anchor="t" lIns="0" rIns="0" tIns="0" bIns="0">
            <a:spAutoFit/>
          </a:bodyPr>
          <a:lstStyle/>
          <a:p>
            <a:pPr algn="l">
              <a:spcAft>
                <a:spcPts val="400"/>
              </a:spcAft>
            </a:pPr>
            <a:r>
              <a:rPr sz="1250" b="0" i="0">
                <a:solidFill>
                  <a:srgbClr val="5B5B6E"/>
                </a:solidFill>
                <a:latin typeface="Calibri"/>
              </a:rPr>
              <a:t>“Actually the trip was international” — naive systems restart and lose context.</a:t>
            </a:r>
          </a:p>
        </p:txBody>
      </p:sp>
      <p:sp>
        <p:nvSpPr>
          <p:cNvPr id="17" name="TextBox 16"/>
          <p:cNvSpPr txBox="1"/>
          <p:nvPr/>
        </p:nvSpPr>
        <p:spPr>
          <a:xfrm>
            <a:off x="6172200" y="2057400"/>
            <a:ext cx="5120640" cy="365760"/>
          </a:xfrm>
          <a:prstGeom prst="rect">
            <a:avLst/>
          </a:prstGeom>
          <a:noFill/>
        </p:spPr>
        <p:txBody>
          <a:bodyPr wrap="square" anchor="t" lIns="0" rIns="0" tIns="0" bIns="0">
            <a:spAutoFit/>
          </a:bodyPr>
          <a:lstStyle/>
          <a:p>
            <a:pPr algn="l">
              <a:spcAft>
                <a:spcPts val="400"/>
              </a:spcAft>
            </a:pPr>
            <a:r>
              <a:rPr sz="1500" b="1" i="0">
                <a:solidFill>
                  <a:srgbClr val="6D28D9"/>
                </a:solidFill>
                <a:latin typeface="Calibri"/>
              </a:rPr>
              <a:t>What the engine must do</a:t>
            </a:r>
          </a:p>
        </p:txBody>
      </p:sp>
      <p:sp>
        <p:nvSpPr>
          <p:cNvPr id="18" name="Rounded Rectangle 17"/>
          <p:cNvSpPr/>
          <p:nvPr/>
        </p:nvSpPr>
        <p:spPr>
          <a:xfrm>
            <a:off x="6172200" y="2514600"/>
            <a:ext cx="5184648" cy="3547872"/>
          </a:xfrm>
          <a:prstGeom prst="roundRect">
            <a:avLst>
              <a:gd name="adj" fmla="val 12000"/>
            </a:avLst>
          </a:prstGeom>
          <a:noFill/>
          <a:ln w="15875">
            <a:solidFill>
              <a:srgbClr val="D9D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00800" y="2770632"/>
            <a:ext cx="329184" cy="3291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0" name="TextBox 19"/>
          <p:cNvSpPr txBox="1"/>
          <p:nvPr/>
        </p:nvSpPr>
        <p:spPr>
          <a:xfrm>
            <a:off x="6903720" y="2715768"/>
            <a:ext cx="4297680" cy="731520"/>
          </a:xfrm>
          <a:prstGeom prst="rect">
            <a:avLst/>
          </a:prstGeom>
          <a:noFill/>
        </p:spPr>
        <p:txBody>
          <a:bodyPr wrap="square" anchor="t" lIns="0" rIns="0" tIns="0" bIns="0">
            <a:spAutoFit/>
          </a:bodyPr>
          <a:lstStyle/>
          <a:p>
            <a:pPr algn="l">
              <a:spcAft>
                <a:spcPts val="400"/>
              </a:spcAft>
            </a:pPr>
            <a:r>
              <a:rPr sz="1450" b="1" i="0">
                <a:solidFill>
                  <a:srgbClr val="16162E"/>
                </a:solidFill>
                <a:latin typeface="Calibri"/>
              </a:rPr>
              <a:t>Listen incrementally</a:t>
            </a:r>
            <a:r>
              <a:rPr sz="1450" b="0" i="0">
                <a:solidFill>
                  <a:srgbClr val="16162E"/>
                </a:solidFill>
                <a:latin typeface="Calibri"/>
              </a:rPr>
              <a:t>
</a:t>
            </a:r>
            <a:r>
              <a:rPr sz="1250" b="0" i="0">
                <a:solidFill>
                  <a:srgbClr val="5B5B6E"/>
                </a:solidFill>
                <a:latin typeface="Calibri"/>
              </a:rPr>
              <a:t>predict retrieval intent before the user finishes speaking</a:t>
            </a:r>
          </a:p>
        </p:txBody>
      </p:sp>
      <p:sp>
        <p:nvSpPr>
          <p:cNvPr id="21" name="Oval 20"/>
          <p:cNvSpPr/>
          <p:nvPr/>
        </p:nvSpPr>
        <p:spPr>
          <a:xfrm>
            <a:off x="6400800" y="3593592"/>
            <a:ext cx="329184" cy="329184"/>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2" name="TextBox 21"/>
          <p:cNvSpPr txBox="1"/>
          <p:nvPr/>
        </p:nvSpPr>
        <p:spPr>
          <a:xfrm>
            <a:off x="6903720" y="3538728"/>
            <a:ext cx="4297680" cy="731520"/>
          </a:xfrm>
          <a:prstGeom prst="rect">
            <a:avLst/>
          </a:prstGeom>
          <a:noFill/>
        </p:spPr>
        <p:txBody>
          <a:bodyPr wrap="square" anchor="t" lIns="0" rIns="0" tIns="0" bIns="0">
            <a:spAutoFit/>
          </a:bodyPr>
          <a:lstStyle/>
          <a:p>
            <a:pPr algn="l">
              <a:spcAft>
                <a:spcPts val="400"/>
              </a:spcAft>
            </a:pPr>
            <a:r>
              <a:rPr sz="1450" b="1" i="0">
                <a:solidFill>
                  <a:srgbClr val="16162E"/>
                </a:solidFill>
                <a:latin typeface="Calibri"/>
              </a:rPr>
              <a:t>Decompose multi-intent queries</a:t>
            </a:r>
            <a:r>
              <a:rPr sz="1450" b="0" i="0">
                <a:solidFill>
                  <a:srgbClr val="16162E"/>
                </a:solidFill>
                <a:latin typeface="Calibri"/>
              </a:rPr>
              <a:t>
</a:t>
            </a:r>
            <a:r>
              <a:rPr sz="1250" b="0" i="0">
                <a:solidFill>
                  <a:srgbClr val="5B5B6E"/>
                </a:solidFill>
                <a:latin typeface="Calibri"/>
              </a:rPr>
              <a:t>parallel retrieval per sub-question</a:t>
            </a:r>
          </a:p>
        </p:txBody>
      </p:sp>
      <p:sp>
        <p:nvSpPr>
          <p:cNvPr id="23" name="Oval 22"/>
          <p:cNvSpPr/>
          <p:nvPr/>
        </p:nvSpPr>
        <p:spPr>
          <a:xfrm>
            <a:off x="6400800" y="4416552"/>
            <a:ext cx="329184" cy="329184"/>
          </a:xfrm>
          <a:prstGeom prst="ellipse">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4" name="TextBox 23"/>
          <p:cNvSpPr txBox="1"/>
          <p:nvPr/>
        </p:nvSpPr>
        <p:spPr>
          <a:xfrm>
            <a:off x="6903720" y="4361688"/>
            <a:ext cx="4297680" cy="731520"/>
          </a:xfrm>
          <a:prstGeom prst="rect">
            <a:avLst/>
          </a:prstGeom>
          <a:noFill/>
        </p:spPr>
        <p:txBody>
          <a:bodyPr wrap="square" anchor="t" lIns="0" rIns="0" tIns="0" bIns="0">
            <a:spAutoFit/>
          </a:bodyPr>
          <a:lstStyle/>
          <a:p>
            <a:pPr algn="l">
              <a:spcAft>
                <a:spcPts val="400"/>
              </a:spcAft>
            </a:pPr>
            <a:r>
              <a:rPr sz="1450" b="1" i="0">
                <a:solidFill>
                  <a:srgbClr val="16162E"/>
                </a:solidFill>
                <a:latin typeface="Calibri"/>
              </a:rPr>
              <a:t>Refine, don’t restart</a:t>
            </a:r>
            <a:r>
              <a:rPr sz="1450" b="0" i="0">
                <a:solidFill>
                  <a:srgbClr val="16162E"/>
                </a:solidFill>
                <a:latin typeface="Calibri"/>
              </a:rPr>
              <a:t>
</a:t>
            </a:r>
            <a:r>
              <a:rPr sz="1250" b="0" i="0">
                <a:solidFill>
                  <a:srgbClr val="5B5B6E"/>
                </a:solidFill>
                <a:latin typeface="Calibri"/>
              </a:rPr>
              <a:t>patch answers &amp; citations in place; keep session state</a:t>
            </a:r>
          </a:p>
        </p:txBody>
      </p:sp>
      <p:sp>
        <p:nvSpPr>
          <p:cNvPr id="25" name="Oval 24"/>
          <p:cNvSpPr/>
          <p:nvPr/>
        </p:nvSpPr>
        <p:spPr>
          <a:xfrm>
            <a:off x="6400800" y="5239512"/>
            <a:ext cx="329184" cy="329184"/>
          </a:xfrm>
          <a:prstGeom prst="ellipse">
            <a:avLst/>
          </a:prstGeom>
          <a:solidFill>
            <a:srgbClr val="1616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6" name="TextBox 25"/>
          <p:cNvSpPr txBox="1"/>
          <p:nvPr/>
        </p:nvSpPr>
        <p:spPr>
          <a:xfrm>
            <a:off x="6903720" y="5184648"/>
            <a:ext cx="4297680" cy="731520"/>
          </a:xfrm>
          <a:prstGeom prst="rect">
            <a:avLst/>
          </a:prstGeom>
          <a:noFill/>
        </p:spPr>
        <p:txBody>
          <a:bodyPr wrap="square" anchor="t" lIns="0" rIns="0" tIns="0" bIns="0">
            <a:spAutoFit/>
          </a:bodyPr>
          <a:lstStyle/>
          <a:p>
            <a:pPr algn="l">
              <a:spcAft>
                <a:spcPts val="400"/>
              </a:spcAft>
            </a:pPr>
            <a:r>
              <a:rPr sz="1450" b="1" i="0">
                <a:solidFill>
                  <a:srgbClr val="16162E"/>
                </a:solidFill>
                <a:latin typeface="Calibri"/>
              </a:rPr>
              <a:t>Guarantee corpus grounding</a:t>
            </a:r>
            <a:r>
              <a:rPr sz="1450" b="0" i="0">
                <a:solidFill>
                  <a:srgbClr val="16162E"/>
                </a:solidFill>
                <a:latin typeface="Calibri"/>
              </a:rPr>
              <a:t>
</a:t>
            </a:r>
            <a:r>
              <a:rPr sz="1250" b="0" i="0">
                <a:solidFill>
                  <a:srgbClr val="5B5B6E"/>
                </a:solidFill>
                <a:latin typeface="Calibri"/>
              </a:rPr>
              <a:t>every claim → Doc_ID §Section, explicit uncertainty otherwise</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Rounded Rectangle 2"/>
          <p:cNvSpPr/>
          <p:nvPr/>
        </p:nvSpPr>
        <p:spPr>
          <a:xfrm>
            <a:off x="841248" y="1600200"/>
            <a:ext cx="3035808" cy="457200"/>
          </a:xfrm>
          <a:prstGeom prst="roundRect">
            <a:avLst>
              <a:gd name="adj" fmla="val 12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78408" y="1600200"/>
            <a:ext cx="2834640" cy="457200"/>
          </a:xfrm>
          <a:prstGeom prst="rect">
            <a:avLst/>
          </a:prstGeom>
          <a:noFill/>
        </p:spPr>
        <p:txBody>
          <a:bodyPr wrap="square" anchor="ctr" lIns="0" rIns="0" tIns="0" bIns="0">
            <a:spAutoFit/>
          </a:bodyPr>
          <a:lstStyle/>
          <a:p>
            <a:pPr algn="l">
              <a:spcAft>
                <a:spcPts val="400"/>
              </a:spcAft>
            </a:pPr>
            <a:r>
              <a:rPr sz="1350" b="1" i="0">
                <a:solidFill>
                  <a:srgbClr val="FFFFFF"/>
                </a:solidFill>
                <a:latin typeface="Calibri"/>
              </a:rPr>
              <a:t>Existing approach</a:t>
            </a:r>
          </a:p>
        </p:txBody>
      </p:sp>
      <p:sp>
        <p:nvSpPr>
          <p:cNvPr id="5" name="Rounded Rectangle 4"/>
          <p:cNvSpPr/>
          <p:nvPr/>
        </p:nvSpPr>
        <p:spPr>
          <a:xfrm>
            <a:off x="3950208" y="1600200"/>
            <a:ext cx="3310128" cy="457200"/>
          </a:xfrm>
          <a:prstGeom prst="roundRect">
            <a:avLst>
              <a:gd name="adj" fmla="val 12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87368" y="1600200"/>
            <a:ext cx="3108960" cy="457200"/>
          </a:xfrm>
          <a:prstGeom prst="rect">
            <a:avLst/>
          </a:prstGeom>
          <a:noFill/>
        </p:spPr>
        <p:txBody>
          <a:bodyPr wrap="square" anchor="ctr" lIns="0" rIns="0" tIns="0" bIns="0">
            <a:spAutoFit/>
          </a:bodyPr>
          <a:lstStyle/>
          <a:p>
            <a:pPr algn="l">
              <a:spcAft>
                <a:spcPts val="400"/>
              </a:spcAft>
            </a:pPr>
            <a:r>
              <a:rPr sz="1350" b="1" i="0">
                <a:solidFill>
                  <a:srgbClr val="FFFFFF"/>
                </a:solidFill>
                <a:latin typeface="Calibri"/>
              </a:rPr>
              <a:t>How it works</a:t>
            </a:r>
          </a:p>
        </p:txBody>
      </p:sp>
      <p:sp>
        <p:nvSpPr>
          <p:cNvPr id="7" name="Rounded Rectangle 6"/>
          <p:cNvSpPr/>
          <p:nvPr/>
        </p:nvSpPr>
        <p:spPr>
          <a:xfrm>
            <a:off x="7333488" y="1600200"/>
            <a:ext cx="3950208" cy="457200"/>
          </a:xfrm>
          <a:prstGeom prst="roundRect">
            <a:avLst>
              <a:gd name="adj" fmla="val 12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70648" y="1600200"/>
            <a:ext cx="3749040" cy="457200"/>
          </a:xfrm>
          <a:prstGeom prst="rect">
            <a:avLst/>
          </a:prstGeom>
          <a:noFill/>
        </p:spPr>
        <p:txBody>
          <a:bodyPr wrap="square" anchor="ctr" lIns="0" rIns="0" tIns="0" bIns="0">
            <a:spAutoFit/>
          </a:bodyPr>
          <a:lstStyle/>
          <a:p>
            <a:pPr algn="l">
              <a:spcAft>
                <a:spcPts val="400"/>
              </a:spcAft>
            </a:pPr>
            <a:r>
              <a:rPr sz="1350" b="1" i="0">
                <a:solidFill>
                  <a:srgbClr val="FFFFFF"/>
                </a:solidFill>
                <a:latin typeface="Calibri"/>
              </a:rPr>
              <a:t>Gap for live voice / chat</a:t>
            </a:r>
          </a:p>
        </p:txBody>
      </p:sp>
      <p:sp>
        <p:nvSpPr>
          <p:cNvPr id="9" name="Rounded Rectangle 8"/>
          <p:cNvSpPr/>
          <p:nvPr/>
        </p:nvSpPr>
        <p:spPr>
          <a:xfrm>
            <a:off x="841248" y="2130552"/>
            <a:ext cx="303580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2130552"/>
            <a:ext cx="2834640" cy="585216"/>
          </a:xfrm>
          <a:prstGeom prst="rect">
            <a:avLst/>
          </a:prstGeom>
          <a:noFill/>
        </p:spPr>
        <p:txBody>
          <a:bodyPr wrap="square" anchor="ctr" lIns="0" rIns="0" tIns="0" bIns="0">
            <a:spAutoFit/>
          </a:bodyPr>
          <a:lstStyle/>
          <a:p>
            <a:pPr algn="l">
              <a:spcAft>
                <a:spcPts val="400"/>
              </a:spcAft>
            </a:pPr>
            <a:r>
              <a:rPr sz="1200" b="1" i="0">
                <a:solidFill>
                  <a:srgbClr val="16162E"/>
                </a:solidFill>
                <a:latin typeface="Calibri"/>
              </a:rPr>
              <a:t>Batch RAG (retrieve → generate)</a:t>
            </a:r>
          </a:p>
        </p:txBody>
      </p:sp>
      <p:sp>
        <p:nvSpPr>
          <p:cNvPr id="11" name="Rounded Rectangle 10"/>
          <p:cNvSpPr/>
          <p:nvPr/>
        </p:nvSpPr>
        <p:spPr>
          <a:xfrm>
            <a:off x="3950208" y="2130552"/>
            <a:ext cx="331012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87368" y="2130552"/>
            <a:ext cx="3108960" cy="585216"/>
          </a:xfrm>
          <a:prstGeom prst="rect">
            <a:avLst/>
          </a:prstGeom>
          <a:noFill/>
        </p:spPr>
        <p:txBody>
          <a:bodyPr wrap="square" anchor="ctr" lIns="0" rIns="0" tIns="0" bIns="0">
            <a:spAutoFit/>
          </a:bodyPr>
          <a:lstStyle/>
          <a:p>
            <a:pPr algn="l">
              <a:spcAft>
                <a:spcPts val="400"/>
              </a:spcAft>
            </a:pPr>
            <a:r>
              <a:rPr sz="1200" b="0" i="0">
                <a:solidFill>
                  <a:srgbClr val="16162E"/>
                </a:solidFill>
                <a:latin typeface="Calibri"/>
              </a:rPr>
              <a:t>Waits for utterance end; one query per turn</a:t>
            </a:r>
          </a:p>
        </p:txBody>
      </p:sp>
      <p:sp>
        <p:nvSpPr>
          <p:cNvPr id="13" name="Rounded Rectangle 12"/>
          <p:cNvSpPr/>
          <p:nvPr/>
        </p:nvSpPr>
        <p:spPr>
          <a:xfrm>
            <a:off x="7333488" y="2130552"/>
            <a:ext cx="3950208" cy="585216"/>
          </a:xfrm>
          <a:prstGeom prst="roundRect">
            <a:avLst>
              <a:gd name="adj" fmla="val 12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70648" y="2130552"/>
            <a:ext cx="3749040" cy="585216"/>
          </a:xfrm>
          <a:prstGeom prst="rect">
            <a:avLst/>
          </a:prstGeom>
          <a:noFill/>
        </p:spPr>
        <p:txBody>
          <a:bodyPr wrap="square" anchor="ctr" lIns="0" rIns="0" tIns="0" bIns="0">
            <a:spAutoFit/>
          </a:bodyPr>
          <a:lstStyle/>
          <a:p>
            <a:pPr algn="l">
              <a:spcAft>
                <a:spcPts val="400"/>
              </a:spcAft>
            </a:pPr>
            <a:r>
              <a:rPr sz="1200" b="0" i="0">
                <a:solidFill>
                  <a:srgbClr val="9B1C1C"/>
                </a:solidFill>
                <a:latin typeface="Calibri"/>
              </a:rPr>
              <a:t>No early retrieval; compound intents under-covered</a:t>
            </a:r>
          </a:p>
        </p:txBody>
      </p:sp>
      <p:sp>
        <p:nvSpPr>
          <p:cNvPr id="15" name="Rounded Rectangle 14"/>
          <p:cNvSpPr/>
          <p:nvPr/>
        </p:nvSpPr>
        <p:spPr>
          <a:xfrm>
            <a:off x="841248" y="2788920"/>
            <a:ext cx="303580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8" y="2788920"/>
            <a:ext cx="2834640" cy="585216"/>
          </a:xfrm>
          <a:prstGeom prst="rect">
            <a:avLst/>
          </a:prstGeom>
          <a:noFill/>
        </p:spPr>
        <p:txBody>
          <a:bodyPr wrap="square" anchor="ctr" lIns="0" rIns="0" tIns="0" bIns="0">
            <a:spAutoFit/>
          </a:bodyPr>
          <a:lstStyle/>
          <a:p>
            <a:pPr algn="l">
              <a:spcAft>
                <a:spcPts val="400"/>
              </a:spcAft>
            </a:pPr>
            <a:r>
              <a:rPr sz="1200" b="1" i="0">
                <a:solidFill>
                  <a:srgbClr val="16162E"/>
                </a:solidFill>
                <a:latin typeface="Calibri"/>
              </a:rPr>
              <a:t>LLM query rewriting / decomposition</a:t>
            </a:r>
          </a:p>
        </p:txBody>
      </p:sp>
      <p:sp>
        <p:nvSpPr>
          <p:cNvPr id="17" name="Rounded Rectangle 16"/>
          <p:cNvSpPr/>
          <p:nvPr/>
        </p:nvSpPr>
        <p:spPr>
          <a:xfrm>
            <a:off x="3950208" y="2788920"/>
            <a:ext cx="331012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087368" y="2788920"/>
            <a:ext cx="3108960" cy="585216"/>
          </a:xfrm>
          <a:prstGeom prst="rect">
            <a:avLst/>
          </a:prstGeom>
          <a:noFill/>
        </p:spPr>
        <p:txBody>
          <a:bodyPr wrap="square" anchor="ctr" lIns="0" rIns="0" tIns="0" bIns="0">
            <a:spAutoFit/>
          </a:bodyPr>
          <a:lstStyle/>
          <a:p>
            <a:pPr algn="l">
              <a:spcAft>
                <a:spcPts val="400"/>
              </a:spcAft>
            </a:pPr>
            <a:r>
              <a:rPr sz="1200" b="0" i="0">
                <a:solidFill>
                  <a:srgbClr val="16162E"/>
                </a:solidFill>
                <a:latin typeface="Calibri"/>
              </a:rPr>
              <a:t>An LLM call splits or rewrites every turn</a:t>
            </a:r>
          </a:p>
        </p:txBody>
      </p:sp>
      <p:sp>
        <p:nvSpPr>
          <p:cNvPr id="19" name="Rounded Rectangle 18"/>
          <p:cNvSpPr/>
          <p:nvPr/>
        </p:nvSpPr>
        <p:spPr>
          <a:xfrm>
            <a:off x="7333488" y="2788920"/>
            <a:ext cx="3950208" cy="585216"/>
          </a:xfrm>
          <a:prstGeom prst="roundRect">
            <a:avLst>
              <a:gd name="adj" fmla="val 12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70648" y="2788920"/>
            <a:ext cx="3749040" cy="585216"/>
          </a:xfrm>
          <a:prstGeom prst="rect">
            <a:avLst/>
          </a:prstGeom>
          <a:noFill/>
        </p:spPr>
        <p:txBody>
          <a:bodyPr wrap="square" anchor="ctr" lIns="0" rIns="0" tIns="0" bIns="0">
            <a:spAutoFit/>
          </a:bodyPr>
          <a:lstStyle/>
          <a:p>
            <a:pPr algn="l">
              <a:spcAft>
                <a:spcPts val="400"/>
              </a:spcAft>
            </a:pPr>
            <a:r>
              <a:rPr sz="1200" b="0" i="0">
                <a:solidFill>
                  <a:srgbClr val="9B1C1C"/>
                </a:solidFill>
                <a:latin typeface="Calibri"/>
              </a:rPr>
              <a:t>Adds a model call before retrieval — slower, costlier, can invent sub-questions</a:t>
            </a:r>
          </a:p>
        </p:txBody>
      </p:sp>
      <p:sp>
        <p:nvSpPr>
          <p:cNvPr id="21" name="Rounded Rectangle 20"/>
          <p:cNvSpPr/>
          <p:nvPr/>
        </p:nvSpPr>
        <p:spPr>
          <a:xfrm>
            <a:off x="841248" y="3447288"/>
            <a:ext cx="303580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78408" y="3447288"/>
            <a:ext cx="2834640" cy="585216"/>
          </a:xfrm>
          <a:prstGeom prst="rect">
            <a:avLst/>
          </a:prstGeom>
          <a:noFill/>
        </p:spPr>
        <p:txBody>
          <a:bodyPr wrap="square" anchor="ctr" lIns="0" rIns="0" tIns="0" bIns="0">
            <a:spAutoFit/>
          </a:bodyPr>
          <a:lstStyle/>
          <a:p>
            <a:pPr algn="l">
              <a:spcAft>
                <a:spcPts val="400"/>
              </a:spcAft>
            </a:pPr>
            <a:r>
              <a:rPr sz="1200" b="1" i="0">
                <a:solidFill>
                  <a:srgbClr val="16162E"/>
                </a:solidFill>
                <a:latin typeface="Calibri"/>
              </a:rPr>
              <a:t>Agentic / multi-step RAG</a:t>
            </a:r>
          </a:p>
        </p:txBody>
      </p:sp>
      <p:sp>
        <p:nvSpPr>
          <p:cNvPr id="23" name="Rounded Rectangle 22"/>
          <p:cNvSpPr/>
          <p:nvPr/>
        </p:nvSpPr>
        <p:spPr>
          <a:xfrm>
            <a:off x="3950208" y="3447288"/>
            <a:ext cx="331012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087368" y="3447288"/>
            <a:ext cx="3108960" cy="585216"/>
          </a:xfrm>
          <a:prstGeom prst="rect">
            <a:avLst/>
          </a:prstGeom>
          <a:noFill/>
        </p:spPr>
        <p:txBody>
          <a:bodyPr wrap="square" anchor="ctr" lIns="0" rIns="0" tIns="0" bIns="0">
            <a:spAutoFit/>
          </a:bodyPr>
          <a:lstStyle/>
          <a:p>
            <a:pPr algn="l">
              <a:spcAft>
                <a:spcPts val="400"/>
              </a:spcAft>
            </a:pPr>
            <a:r>
              <a:rPr sz="1200" b="0" i="0">
                <a:solidFill>
                  <a:srgbClr val="16162E"/>
                </a:solidFill>
                <a:latin typeface="Calibri"/>
              </a:rPr>
              <a:t>Planner loops over tools and searches</a:t>
            </a:r>
          </a:p>
        </p:txBody>
      </p:sp>
      <p:sp>
        <p:nvSpPr>
          <p:cNvPr id="25" name="Rounded Rectangle 24"/>
          <p:cNvSpPr/>
          <p:nvPr/>
        </p:nvSpPr>
        <p:spPr>
          <a:xfrm>
            <a:off x="7333488" y="3447288"/>
            <a:ext cx="3950208" cy="585216"/>
          </a:xfrm>
          <a:prstGeom prst="roundRect">
            <a:avLst>
              <a:gd name="adj" fmla="val 12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70648" y="3447288"/>
            <a:ext cx="3749040" cy="585216"/>
          </a:xfrm>
          <a:prstGeom prst="rect">
            <a:avLst/>
          </a:prstGeom>
          <a:noFill/>
        </p:spPr>
        <p:txBody>
          <a:bodyPr wrap="square" anchor="ctr" lIns="0" rIns="0" tIns="0" bIns="0">
            <a:spAutoFit/>
          </a:bodyPr>
          <a:lstStyle/>
          <a:p>
            <a:pPr algn="l">
              <a:spcAft>
                <a:spcPts val="400"/>
              </a:spcAft>
            </a:pPr>
            <a:r>
              <a:rPr sz="1200" b="0" i="0">
                <a:solidFill>
                  <a:srgbClr val="9B1C1C"/>
                </a:solidFill>
                <a:latin typeface="Calibri"/>
              </a:rPr>
              <a:t>Heavy orchestration; penalised by the parsimony rule; latency grows per step</a:t>
            </a:r>
          </a:p>
        </p:txBody>
      </p:sp>
      <p:sp>
        <p:nvSpPr>
          <p:cNvPr id="27" name="Rounded Rectangle 26"/>
          <p:cNvSpPr/>
          <p:nvPr/>
        </p:nvSpPr>
        <p:spPr>
          <a:xfrm>
            <a:off x="841248" y="4105656"/>
            <a:ext cx="303580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78408" y="4105656"/>
            <a:ext cx="2834640" cy="585216"/>
          </a:xfrm>
          <a:prstGeom prst="rect">
            <a:avLst/>
          </a:prstGeom>
          <a:noFill/>
        </p:spPr>
        <p:txBody>
          <a:bodyPr wrap="square" anchor="ctr" lIns="0" rIns="0" tIns="0" bIns="0">
            <a:spAutoFit/>
          </a:bodyPr>
          <a:lstStyle/>
          <a:p>
            <a:pPr algn="l">
              <a:spcAft>
                <a:spcPts val="400"/>
              </a:spcAft>
            </a:pPr>
            <a:r>
              <a:rPr sz="1200" b="1" i="0">
                <a:solidFill>
                  <a:srgbClr val="16162E"/>
                </a:solidFill>
                <a:latin typeface="Calibri"/>
              </a:rPr>
              <a:t>Conversational RAG with history</a:t>
            </a:r>
          </a:p>
        </p:txBody>
      </p:sp>
      <p:sp>
        <p:nvSpPr>
          <p:cNvPr id="29" name="Rounded Rectangle 28"/>
          <p:cNvSpPr/>
          <p:nvPr/>
        </p:nvSpPr>
        <p:spPr>
          <a:xfrm>
            <a:off x="3950208" y="4105656"/>
            <a:ext cx="331012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087368" y="4105656"/>
            <a:ext cx="3108960" cy="585216"/>
          </a:xfrm>
          <a:prstGeom prst="rect">
            <a:avLst/>
          </a:prstGeom>
          <a:noFill/>
        </p:spPr>
        <p:txBody>
          <a:bodyPr wrap="square" anchor="ctr" lIns="0" rIns="0" tIns="0" bIns="0">
            <a:spAutoFit/>
          </a:bodyPr>
          <a:lstStyle/>
          <a:p>
            <a:pPr algn="l">
              <a:spcAft>
                <a:spcPts val="400"/>
              </a:spcAft>
            </a:pPr>
            <a:r>
              <a:rPr sz="1200" b="0" i="0">
                <a:solidFill>
                  <a:srgbClr val="16162E"/>
                </a:solidFill>
                <a:latin typeface="Calibri"/>
              </a:rPr>
              <a:t>Re-queries with the concatenated conversation</a:t>
            </a:r>
          </a:p>
        </p:txBody>
      </p:sp>
      <p:sp>
        <p:nvSpPr>
          <p:cNvPr id="31" name="Rounded Rectangle 30"/>
          <p:cNvSpPr/>
          <p:nvPr/>
        </p:nvSpPr>
        <p:spPr>
          <a:xfrm>
            <a:off x="7333488" y="4105656"/>
            <a:ext cx="3950208" cy="585216"/>
          </a:xfrm>
          <a:prstGeom prst="roundRect">
            <a:avLst>
              <a:gd name="adj" fmla="val 12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470648" y="4105656"/>
            <a:ext cx="3749040" cy="585216"/>
          </a:xfrm>
          <a:prstGeom prst="rect">
            <a:avLst/>
          </a:prstGeom>
          <a:noFill/>
        </p:spPr>
        <p:txBody>
          <a:bodyPr wrap="square" anchor="ctr" lIns="0" rIns="0" tIns="0" bIns="0">
            <a:spAutoFit/>
          </a:bodyPr>
          <a:lstStyle/>
          <a:p>
            <a:pPr algn="l">
              <a:spcAft>
                <a:spcPts val="400"/>
              </a:spcAft>
            </a:pPr>
            <a:r>
              <a:rPr sz="1200" b="0" i="0">
                <a:solidFill>
                  <a:srgbClr val="9B1C1C"/>
                </a:solidFill>
                <a:latin typeface="Calibri"/>
              </a:rPr>
              <a:t>Restarts from scratch on every clarification; discards verified evidence</a:t>
            </a:r>
          </a:p>
        </p:txBody>
      </p:sp>
      <p:sp>
        <p:nvSpPr>
          <p:cNvPr id="33" name="Rounded Rectangle 32"/>
          <p:cNvSpPr/>
          <p:nvPr/>
        </p:nvSpPr>
        <p:spPr>
          <a:xfrm>
            <a:off x="841248" y="4764024"/>
            <a:ext cx="303580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8" y="4764024"/>
            <a:ext cx="2834640" cy="585216"/>
          </a:xfrm>
          <a:prstGeom prst="rect">
            <a:avLst/>
          </a:prstGeom>
          <a:noFill/>
        </p:spPr>
        <p:txBody>
          <a:bodyPr wrap="square" anchor="ctr" lIns="0" rIns="0" tIns="0" bIns="0">
            <a:spAutoFit/>
          </a:bodyPr>
          <a:lstStyle/>
          <a:p>
            <a:pPr algn="l">
              <a:spcAft>
                <a:spcPts val="400"/>
              </a:spcAft>
            </a:pPr>
            <a:r>
              <a:rPr sz="1200" b="1" i="0">
                <a:solidFill>
                  <a:srgbClr val="16162E"/>
                </a:solidFill>
                <a:latin typeface="Calibri"/>
              </a:rPr>
              <a:t>Post-hoc citation checking</a:t>
            </a:r>
          </a:p>
        </p:txBody>
      </p:sp>
      <p:sp>
        <p:nvSpPr>
          <p:cNvPr id="35" name="Rounded Rectangle 34"/>
          <p:cNvSpPr/>
          <p:nvPr/>
        </p:nvSpPr>
        <p:spPr>
          <a:xfrm>
            <a:off x="3950208" y="4764024"/>
            <a:ext cx="3310128" cy="585216"/>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087368" y="4764024"/>
            <a:ext cx="3108960" cy="585216"/>
          </a:xfrm>
          <a:prstGeom prst="rect">
            <a:avLst/>
          </a:prstGeom>
          <a:noFill/>
        </p:spPr>
        <p:txBody>
          <a:bodyPr wrap="square" anchor="ctr" lIns="0" rIns="0" tIns="0" bIns="0">
            <a:spAutoFit/>
          </a:bodyPr>
          <a:lstStyle/>
          <a:p>
            <a:pPr algn="l">
              <a:spcAft>
                <a:spcPts val="400"/>
              </a:spcAft>
            </a:pPr>
            <a:r>
              <a:rPr sz="1200" b="0" i="0">
                <a:solidFill>
                  <a:srgbClr val="16162E"/>
                </a:solidFill>
                <a:latin typeface="Calibri"/>
              </a:rPr>
              <a:t>Generate freely, then validate citations</a:t>
            </a:r>
          </a:p>
        </p:txBody>
      </p:sp>
      <p:sp>
        <p:nvSpPr>
          <p:cNvPr id="37" name="Rounded Rectangle 36"/>
          <p:cNvSpPr/>
          <p:nvPr/>
        </p:nvSpPr>
        <p:spPr>
          <a:xfrm>
            <a:off x="7333488" y="4764024"/>
            <a:ext cx="3950208" cy="585216"/>
          </a:xfrm>
          <a:prstGeom prst="roundRect">
            <a:avLst>
              <a:gd name="adj" fmla="val 12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470648" y="4764024"/>
            <a:ext cx="3749040" cy="585216"/>
          </a:xfrm>
          <a:prstGeom prst="rect">
            <a:avLst/>
          </a:prstGeom>
          <a:noFill/>
        </p:spPr>
        <p:txBody>
          <a:bodyPr wrap="square" anchor="ctr" lIns="0" rIns="0" tIns="0" bIns="0">
            <a:spAutoFit/>
          </a:bodyPr>
          <a:lstStyle/>
          <a:p>
            <a:pPr algn="l">
              <a:spcAft>
                <a:spcPts val="400"/>
              </a:spcAft>
            </a:pPr>
            <a:r>
              <a:rPr sz="1200" b="0" i="0">
                <a:solidFill>
                  <a:srgbClr val="9B1C1C"/>
                </a:solidFill>
                <a:latin typeface="Calibri"/>
              </a:rPr>
              <a:t>Fabricated IDs are caught after the fact, not prevented</a:t>
            </a:r>
          </a:p>
        </p:txBody>
      </p:sp>
      <p:sp>
        <p:nvSpPr>
          <p:cNvPr id="39" name="Rounded Rectangle 38"/>
          <p:cNvSpPr/>
          <p:nvPr/>
        </p:nvSpPr>
        <p:spPr>
          <a:xfrm>
            <a:off x="841248" y="5504688"/>
            <a:ext cx="10442448" cy="658368"/>
          </a:xfrm>
          <a:prstGeom prst="roundRect">
            <a:avLst>
              <a:gd name="adj" fmla="val 12000"/>
            </a:avLst>
          </a:prstGeom>
          <a:solidFill>
            <a:srgbClr val="161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51560" y="5504688"/>
            <a:ext cx="10058400" cy="658368"/>
          </a:xfrm>
          <a:prstGeom prst="rect">
            <a:avLst/>
          </a:prstGeom>
          <a:noFill/>
        </p:spPr>
        <p:txBody>
          <a:bodyPr wrap="square" anchor="ctr" lIns="0" rIns="0" tIns="0" bIns="0">
            <a:spAutoFit/>
          </a:bodyPr>
          <a:lstStyle/>
          <a:p>
            <a:pPr algn="l">
              <a:spcAft>
                <a:spcPts val="400"/>
              </a:spcAft>
            </a:pPr>
            <a:r>
              <a:rPr sz="1450" b="1" i="0">
                <a:solidFill>
                  <a:srgbClr val="C4B5FD"/>
                </a:solidFill>
                <a:latin typeface="Calibri"/>
              </a:rPr>
              <a:t>The gap we close: </a:t>
            </a:r>
            <a:r>
              <a:rPr sz="1450" b="0" i="0">
                <a:solidFill>
                  <a:srgbClr val="FFFFFF"/>
                </a:solidFill>
                <a:latin typeface="Calibri"/>
              </a:rPr>
              <a:t>none of these start retrieving while the user is still talking, and none patch individual claims when a detail arrives late — they restart.</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841248" y="1463040"/>
            <a:ext cx="1828800" cy="365760"/>
          </a:xfrm>
          <a:prstGeom prst="rect">
            <a:avLst/>
          </a:prstGeom>
          <a:noFill/>
        </p:spPr>
        <p:txBody>
          <a:bodyPr wrap="square" anchor="ctr" lIns="0" rIns="0" tIns="0" bIns="0">
            <a:spAutoFit/>
          </a:bodyPr>
          <a:lstStyle/>
          <a:p>
            <a:pPr algn="l">
              <a:spcAft>
                <a:spcPts val="400"/>
              </a:spcAft>
            </a:pPr>
            <a:r>
              <a:rPr sz="1200" b="1" i="0">
                <a:solidFill>
                  <a:srgbClr val="5B5B6E"/>
                </a:solidFill>
                <a:latin typeface="Calibri"/>
              </a:rPr>
              <a:t>Transcript stream</a:t>
            </a:r>
          </a:p>
        </p:txBody>
      </p:sp>
      <p:sp>
        <p:nvSpPr>
          <p:cNvPr id="4" name="Rounded Rectangle 3"/>
          <p:cNvSpPr/>
          <p:nvPr/>
        </p:nvSpPr>
        <p:spPr>
          <a:xfrm>
            <a:off x="2514600" y="1444752"/>
            <a:ext cx="2148840" cy="420624"/>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2606040" y="1444752"/>
            <a:ext cx="1965960" cy="420624"/>
          </a:xfrm>
          <a:prstGeom prst="rect">
            <a:avLst/>
          </a:prstGeom>
          <a:noFill/>
        </p:spPr>
        <p:txBody>
          <a:bodyPr wrap="square" anchor="ctr" lIns="0" rIns="0" tIns="0" bIns="0">
            <a:spAutoFit/>
          </a:bodyPr>
          <a:lstStyle/>
          <a:p>
            <a:pPr algn="l">
              <a:spcAft>
                <a:spcPts val="400"/>
              </a:spcAft>
            </a:pPr>
            <a:r>
              <a:rPr sz="1050" b="1" i="0">
                <a:solidFill>
                  <a:srgbClr val="3B63D8"/>
                </a:solidFill>
                <a:latin typeface="Calibri"/>
              </a:rPr>
              <a:t>0.0s  </a:t>
            </a:r>
            <a:r>
              <a:rPr sz="1050" b="0" i="0">
                <a:solidFill>
                  <a:srgbClr val="16162E"/>
                </a:solidFill>
                <a:latin typeface="Calibri"/>
              </a:rPr>
              <a:t>“I need to plan a customer workshop in”</a:t>
            </a:r>
          </a:p>
        </p:txBody>
      </p:sp>
      <p:sp>
        <p:nvSpPr>
          <p:cNvPr id="6" name="Rounded Rectangle 5"/>
          <p:cNvSpPr/>
          <p:nvPr/>
        </p:nvSpPr>
        <p:spPr>
          <a:xfrm>
            <a:off x="4754880" y="1444752"/>
            <a:ext cx="2148840" cy="420624"/>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0" y="1444752"/>
            <a:ext cx="1965960" cy="420624"/>
          </a:xfrm>
          <a:prstGeom prst="rect">
            <a:avLst/>
          </a:prstGeom>
          <a:noFill/>
        </p:spPr>
        <p:txBody>
          <a:bodyPr wrap="square" anchor="ctr" lIns="0" rIns="0" tIns="0" bIns="0">
            <a:spAutoFit/>
          </a:bodyPr>
          <a:lstStyle/>
          <a:p>
            <a:pPr algn="l">
              <a:spcAft>
                <a:spcPts val="400"/>
              </a:spcAft>
            </a:pPr>
            <a:r>
              <a:rPr sz="1050" b="1" i="0">
                <a:solidFill>
                  <a:srgbClr val="3B63D8"/>
                </a:solidFill>
                <a:latin typeface="Calibri"/>
              </a:rPr>
              <a:t>0.8s  </a:t>
            </a:r>
            <a:r>
              <a:rPr sz="1050" b="0" i="0">
                <a:solidFill>
                  <a:srgbClr val="16162E"/>
                </a:solidFill>
                <a:latin typeface="Calibri"/>
              </a:rPr>
              <a:t>“Pune for 30 people, and I need”</a:t>
            </a:r>
          </a:p>
        </p:txBody>
      </p:sp>
      <p:sp>
        <p:nvSpPr>
          <p:cNvPr id="8" name="Rounded Rectangle 7"/>
          <p:cNvSpPr/>
          <p:nvPr/>
        </p:nvSpPr>
        <p:spPr>
          <a:xfrm>
            <a:off x="6995160" y="1444752"/>
            <a:ext cx="2743200" cy="420624"/>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444752"/>
            <a:ext cx="2560320" cy="420624"/>
          </a:xfrm>
          <a:prstGeom prst="rect">
            <a:avLst/>
          </a:prstGeom>
          <a:noFill/>
        </p:spPr>
        <p:txBody>
          <a:bodyPr wrap="square" anchor="ctr" lIns="0" rIns="0" tIns="0" bIns="0">
            <a:spAutoFit/>
          </a:bodyPr>
          <a:lstStyle/>
          <a:p>
            <a:pPr algn="l">
              <a:spcAft>
                <a:spcPts val="400"/>
              </a:spcAft>
            </a:pPr>
            <a:r>
              <a:rPr sz="1050" b="1" i="0">
                <a:solidFill>
                  <a:srgbClr val="3B63D8"/>
                </a:solidFill>
                <a:latin typeface="Calibri"/>
              </a:rPr>
              <a:t>1.6s  </a:t>
            </a:r>
            <a:r>
              <a:rPr sz="1050" b="0" i="0">
                <a:solidFill>
                  <a:srgbClr val="16162E"/>
                </a:solidFill>
                <a:latin typeface="Calibri"/>
              </a:rPr>
              <a:t>“…the cancellation policy and the catering options.”</a:t>
            </a:r>
          </a:p>
        </p:txBody>
      </p:sp>
      <p:sp>
        <p:nvSpPr>
          <p:cNvPr id="10" name="Rounded Rectangle 9"/>
          <p:cNvSpPr/>
          <p:nvPr/>
        </p:nvSpPr>
        <p:spPr>
          <a:xfrm>
            <a:off x="9829800" y="1444752"/>
            <a:ext cx="1463040" cy="420624"/>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21240" y="1444752"/>
            <a:ext cx="1280160" cy="420624"/>
          </a:xfrm>
          <a:prstGeom prst="rect">
            <a:avLst/>
          </a:prstGeom>
          <a:noFill/>
        </p:spPr>
        <p:txBody>
          <a:bodyPr wrap="square" anchor="ctr" lIns="0" rIns="0" tIns="0" bIns="0">
            <a:spAutoFit/>
          </a:bodyPr>
          <a:lstStyle/>
          <a:p>
            <a:pPr algn="l">
              <a:spcAft>
                <a:spcPts val="400"/>
              </a:spcAft>
            </a:pPr>
            <a:r>
              <a:rPr sz="1050" b="1" i="0">
                <a:solidFill>
                  <a:srgbClr val="3B63D8"/>
                </a:solidFill>
                <a:latin typeface="Calibri"/>
              </a:rPr>
              <a:t>2.1s  </a:t>
            </a:r>
            <a:r>
              <a:rPr sz="1050" b="0" i="0">
                <a:solidFill>
                  <a:srgbClr val="16162E"/>
                </a:solidFill>
                <a:latin typeface="Calibri"/>
              </a:rPr>
              <a:t>[utterance end]</a:t>
            </a:r>
          </a:p>
        </p:txBody>
      </p:sp>
      <p:sp>
        <p:nvSpPr>
          <p:cNvPr id="12" name="Rounded Rectangle 11"/>
          <p:cNvSpPr/>
          <p:nvPr/>
        </p:nvSpPr>
        <p:spPr>
          <a:xfrm>
            <a:off x="841248" y="2148840"/>
            <a:ext cx="1901952" cy="1783080"/>
          </a:xfrm>
          <a:prstGeom prst="roundRect">
            <a:avLst>
              <a:gd name="adj" fmla="val 12000"/>
            </a:avLst>
          </a:prstGeom>
          <a:solidFill>
            <a:srgbClr val="F3EEFC"/>
          </a:solidFill>
          <a:ln w="15875">
            <a:solidFill>
              <a:srgbClr val="E4D9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05840" y="2313432"/>
            <a:ext cx="402336" cy="40233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14" name="TextBox 13"/>
          <p:cNvSpPr txBox="1"/>
          <p:nvPr/>
        </p:nvSpPr>
        <p:spPr>
          <a:xfrm>
            <a:off x="1499616" y="2313432"/>
            <a:ext cx="1170432" cy="402336"/>
          </a:xfrm>
          <a:prstGeom prst="rect">
            <a:avLst/>
          </a:prstGeom>
          <a:noFill/>
        </p:spPr>
        <p:txBody>
          <a:bodyPr wrap="square" anchor="ctr" lIns="0" rIns="0" tIns="0" bIns="0">
            <a:spAutoFit/>
          </a:bodyPr>
          <a:lstStyle/>
          <a:p>
            <a:pPr algn="l">
              <a:spcAft>
                <a:spcPts val="400"/>
              </a:spcAft>
            </a:pPr>
            <a:r>
              <a:rPr sz="1450" b="1" i="0">
                <a:solidFill>
                  <a:srgbClr val="6D28D9"/>
                </a:solidFill>
                <a:latin typeface="Calibri"/>
              </a:rPr>
              <a:t>Fork policy</a:t>
            </a:r>
          </a:p>
        </p:txBody>
      </p:sp>
      <p:sp>
        <p:nvSpPr>
          <p:cNvPr id="15" name="TextBox 14"/>
          <p:cNvSpPr txBox="1"/>
          <p:nvPr/>
        </p:nvSpPr>
        <p:spPr>
          <a:xfrm>
            <a:off x="1005840" y="2862072"/>
            <a:ext cx="1600200" cy="960119"/>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embed buffer once · cluster entropy → wait / fork ≤4 branches / suppress / early patch</a:t>
            </a:r>
          </a:p>
        </p:txBody>
      </p:sp>
      <p:cxnSp>
        <p:nvCxnSpPr>
          <p:cNvPr id="16" name="Connector 15"/>
          <p:cNvCxnSpPr/>
          <p:nvPr/>
        </p:nvCxnSpPr>
        <p:spPr>
          <a:xfrm>
            <a:off x="2761488" y="3040380"/>
            <a:ext cx="201168"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80944" y="2148840"/>
            <a:ext cx="1901952" cy="1783080"/>
          </a:xfrm>
          <a:prstGeom prst="roundRect">
            <a:avLst>
              <a:gd name="adj" fmla="val 12000"/>
            </a:avLst>
          </a:prstGeom>
          <a:solidFill>
            <a:srgbClr val="F3EEFC"/>
          </a:solidFill>
          <a:ln w="15875">
            <a:solidFill>
              <a:srgbClr val="E4D9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3145536" y="2313432"/>
            <a:ext cx="402336" cy="40233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9" name="TextBox 18"/>
          <p:cNvSpPr txBox="1"/>
          <p:nvPr/>
        </p:nvSpPr>
        <p:spPr>
          <a:xfrm>
            <a:off x="3639311" y="2313432"/>
            <a:ext cx="1170432" cy="402336"/>
          </a:xfrm>
          <a:prstGeom prst="rect">
            <a:avLst/>
          </a:prstGeom>
          <a:noFill/>
        </p:spPr>
        <p:txBody>
          <a:bodyPr wrap="square" anchor="ctr" lIns="0" rIns="0" tIns="0" bIns="0">
            <a:spAutoFit/>
          </a:bodyPr>
          <a:lstStyle/>
          <a:p>
            <a:pPr algn="l">
              <a:spcAft>
                <a:spcPts val="400"/>
              </a:spcAft>
            </a:pPr>
            <a:r>
              <a:rPr sz="1450" b="1" i="0">
                <a:solidFill>
                  <a:srgbClr val="6D28D9"/>
                </a:solidFill>
                <a:latin typeface="Calibri"/>
              </a:rPr>
              <a:t>Decomposer</a:t>
            </a:r>
          </a:p>
        </p:txBody>
      </p:sp>
      <p:sp>
        <p:nvSpPr>
          <p:cNvPr id="20" name="TextBox 19"/>
          <p:cNvSpPr txBox="1"/>
          <p:nvPr/>
        </p:nvSpPr>
        <p:spPr>
          <a:xfrm>
            <a:off x="3145536" y="2862072"/>
            <a:ext cx="1600200" cy="960119"/>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clauses → nearest cluster; distinct clusters = distinct intents; slots inherited</a:t>
            </a:r>
          </a:p>
        </p:txBody>
      </p:sp>
      <p:cxnSp>
        <p:nvCxnSpPr>
          <p:cNvPr id="21" name="Connector 20"/>
          <p:cNvCxnSpPr/>
          <p:nvPr/>
        </p:nvCxnSpPr>
        <p:spPr>
          <a:xfrm>
            <a:off x="4901183" y="3040380"/>
            <a:ext cx="201169"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20640" y="2148840"/>
            <a:ext cx="1901952" cy="1783080"/>
          </a:xfrm>
          <a:prstGeom prst="roundRect">
            <a:avLst>
              <a:gd name="adj" fmla="val 12000"/>
            </a:avLst>
          </a:prstGeom>
          <a:solidFill>
            <a:srgbClr val="F3EEFC"/>
          </a:solidFill>
          <a:ln w="15875">
            <a:solidFill>
              <a:srgbClr val="E4D9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5285231" y="2313432"/>
            <a:ext cx="402336" cy="40233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24" name="TextBox 23"/>
          <p:cNvSpPr txBox="1"/>
          <p:nvPr/>
        </p:nvSpPr>
        <p:spPr>
          <a:xfrm>
            <a:off x="5779007" y="2313432"/>
            <a:ext cx="1170432" cy="402336"/>
          </a:xfrm>
          <a:prstGeom prst="rect">
            <a:avLst/>
          </a:prstGeom>
          <a:noFill/>
        </p:spPr>
        <p:txBody>
          <a:bodyPr wrap="square" anchor="ctr" lIns="0" rIns="0" tIns="0" bIns="0">
            <a:spAutoFit/>
          </a:bodyPr>
          <a:lstStyle/>
          <a:p>
            <a:pPr algn="l">
              <a:spcAft>
                <a:spcPts val="400"/>
              </a:spcAft>
            </a:pPr>
            <a:r>
              <a:rPr sz="1450" b="1" i="0">
                <a:solidFill>
                  <a:srgbClr val="6D28D9"/>
                </a:solidFill>
                <a:latin typeface="Calibri"/>
              </a:rPr>
              <a:t>Hybrid retrieval</a:t>
            </a:r>
          </a:p>
        </p:txBody>
      </p:sp>
      <p:sp>
        <p:nvSpPr>
          <p:cNvPr id="25" name="TextBox 24"/>
          <p:cNvSpPr txBox="1"/>
          <p:nvPr/>
        </p:nvSpPr>
        <p:spPr>
          <a:xfrm>
            <a:off x="5285231" y="2862072"/>
            <a:ext cx="1600200" cy="960119"/>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BM25 + FAISS + cluster prior → RRF, per branch, async, 1–2 ms</a:t>
            </a:r>
          </a:p>
        </p:txBody>
      </p:sp>
      <p:cxnSp>
        <p:nvCxnSpPr>
          <p:cNvPr id="26" name="Connector 25"/>
          <p:cNvCxnSpPr/>
          <p:nvPr/>
        </p:nvCxnSpPr>
        <p:spPr>
          <a:xfrm>
            <a:off x="7040879" y="3040380"/>
            <a:ext cx="201169"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60336" y="2148840"/>
            <a:ext cx="1901952" cy="1783080"/>
          </a:xfrm>
          <a:prstGeom prst="roundRect">
            <a:avLst>
              <a:gd name="adj" fmla="val 12000"/>
            </a:avLst>
          </a:prstGeom>
          <a:solidFill>
            <a:srgbClr val="F3EEFC"/>
          </a:solidFill>
          <a:ln w="15875">
            <a:solidFill>
              <a:srgbClr val="E4D9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424927" y="2313432"/>
            <a:ext cx="402336" cy="40233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9" name="TextBox 28"/>
          <p:cNvSpPr txBox="1"/>
          <p:nvPr/>
        </p:nvSpPr>
        <p:spPr>
          <a:xfrm>
            <a:off x="7918704" y="2313432"/>
            <a:ext cx="1170432" cy="402336"/>
          </a:xfrm>
          <a:prstGeom prst="rect">
            <a:avLst/>
          </a:prstGeom>
          <a:noFill/>
        </p:spPr>
        <p:txBody>
          <a:bodyPr wrap="square" anchor="ctr" lIns="0" rIns="0" tIns="0" bIns="0">
            <a:spAutoFit/>
          </a:bodyPr>
          <a:lstStyle/>
          <a:p>
            <a:pPr algn="l">
              <a:spcAft>
                <a:spcPts val="400"/>
              </a:spcAft>
            </a:pPr>
            <a:r>
              <a:rPr sz="1450" b="1" i="0">
                <a:solidFill>
                  <a:srgbClr val="6D28D9"/>
                </a:solidFill>
                <a:latin typeface="Calibri"/>
              </a:rPr>
              <a:t>Cite-then-write</a:t>
            </a:r>
          </a:p>
        </p:txBody>
      </p:sp>
      <p:sp>
        <p:nvSpPr>
          <p:cNvPr id="30" name="TextBox 29"/>
          <p:cNvSpPr txBox="1"/>
          <p:nvPr/>
        </p:nvSpPr>
        <p:spPr>
          <a:xfrm>
            <a:off x="7424927" y="2862072"/>
            <a:ext cx="1600200" cy="960119"/>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closed indices [1..k] · selection before prose · overlap + NLI verify</a:t>
            </a:r>
          </a:p>
        </p:txBody>
      </p:sp>
      <p:cxnSp>
        <p:nvCxnSpPr>
          <p:cNvPr id="31" name="Connector 30"/>
          <p:cNvCxnSpPr/>
          <p:nvPr/>
        </p:nvCxnSpPr>
        <p:spPr>
          <a:xfrm>
            <a:off x="9180576" y="3040380"/>
            <a:ext cx="201168"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400032" y="2148840"/>
            <a:ext cx="1901952" cy="1783080"/>
          </a:xfrm>
          <a:prstGeom prst="roundRect">
            <a:avLst>
              <a:gd name="adj" fmla="val 12000"/>
            </a:avLst>
          </a:prstGeom>
          <a:solidFill>
            <a:srgbClr val="F3EEFC"/>
          </a:solidFill>
          <a:ln w="15875">
            <a:solidFill>
              <a:srgbClr val="E4D9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564624" y="2313432"/>
            <a:ext cx="402336" cy="40233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34" name="TextBox 33"/>
          <p:cNvSpPr txBox="1"/>
          <p:nvPr/>
        </p:nvSpPr>
        <p:spPr>
          <a:xfrm>
            <a:off x="10058400" y="2313432"/>
            <a:ext cx="1170432" cy="402336"/>
          </a:xfrm>
          <a:prstGeom prst="rect">
            <a:avLst/>
          </a:prstGeom>
          <a:noFill/>
        </p:spPr>
        <p:txBody>
          <a:bodyPr wrap="square" anchor="ctr" lIns="0" rIns="0" tIns="0" bIns="0">
            <a:spAutoFit/>
          </a:bodyPr>
          <a:lstStyle/>
          <a:p>
            <a:pPr algn="l">
              <a:spcAft>
                <a:spcPts val="400"/>
              </a:spcAft>
            </a:pPr>
            <a:r>
              <a:rPr sz="1450" b="1" i="0">
                <a:solidFill>
                  <a:srgbClr val="6D28D9"/>
                </a:solidFill>
                <a:latin typeface="Calibri"/>
              </a:rPr>
              <a:t>Claim graph</a:t>
            </a:r>
          </a:p>
        </p:txBody>
      </p:sp>
      <p:sp>
        <p:nvSpPr>
          <p:cNvPr id="35" name="TextBox 34"/>
          <p:cNvSpPr txBox="1"/>
          <p:nvPr/>
        </p:nvSpPr>
        <p:spPr>
          <a:xfrm>
            <a:off x="9564624" y="2862072"/>
            <a:ext cx="1600200" cy="960119"/>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late constraint → stale tiers → scoped re-verify; versioned answers</a:t>
            </a:r>
          </a:p>
        </p:txBody>
      </p:sp>
      <p:cxnSp>
        <p:nvCxnSpPr>
          <p:cNvPr id="36" name="Connector 35"/>
          <p:cNvCxnSpPr/>
          <p:nvPr/>
        </p:nvCxnSpPr>
        <p:spPr>
          <a:xfrm>
            <a:off x="1792224" y="1847088"/>
            <a:ext cx="0" cy="283464"/>
          </a:xfrm>
          <a:prstGeom prst="line">
            <a:avLst/>
          </a:prstGeom>
          <a:ln w="22225">
            <a:solidFill>
              <a:srgbClr val="3B63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41248" y="4297680"/>
            <a:ext cx="10442448" cy="1024128"/>
          </a:xfrm>
          <a:prstGeom prst="roundRect">
            <a:avLst>
              <a:gd name="adj" fmla="val 12000"/>
            </a:avLst>
          </a:prstGeom>
          <a:solidFill>
            <a:srgbClr val="161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24128" y="4352544"/>
            <a:ext cx="2926080" cy="914400"/>
          </a:xfrm>
          <a:prstGeom prst="rect">
            <a:avLst/>
          </a:prstGeom>
          <a:noFill/>
        </p:spPr>
        <p:txBody>
          <a:bodyPr wrap="square" anchor="ctr" lIns="0" rIns="0" tIns="0" bIns="0">
            <a:spAutoFit/>
          </a:bodyPr>
          <a:lstStyle/>
          <a:p>
            <a:pPr algn="l">
              <a:spcAft>
                <a:spcPts val="400"/>
              </a:spcAft>
            </a:pPr>
            <a:r>
              <a:rPr sz="1500" b="1" i="0">
                <a:solidFill>
                  <a:srgbClr val="FFFFFF"/>
                </a:solidFill>
                <a:latin typeface="Calibri"/>
              </a:rPr>
              <a:t>Shared primitives</a:t>
            </a:r>
          </a:p>
          <a:p>
            <a:pPr algn="l">
              <a:spcAft>
                <a:spcPts val="400"/>
              </a:spcAft>
            </a:pPr>
            <a:r>
              <a:rPr sz="1150" b="0" i="0">
                <a:solidFill>
                  <a:srgbClr val="C4B5FD"/>
                </a:solidFill>
                <a:latin typeface="Calibri"/>
              </a:rPr>
              <a:t>computed once, reused by all 5 stages</a:t>
            </a:r>
          </a:p>
        </p:txBody>
      </p:sp>
      <p:sp>
        <p:nvSpPr>
          <p:cNvPr id="39" name="Rounded Rectangle 38"/>
          <p:cNvSpPr/>
          <p:nvPr/>
        </p:nvSpPr>
        <p:spPr>
          <a:xfrm>
            <a:off x="3886200" y="4462272"/>
            <a:ext cx="1719072" cy="694944"/>
          </a:xfrm>
          <a:prstGeom prst="roundRect">
            <a:avLst>
              <a:gd name="adj" fmla="val 12000"/>
            </a:avLst>
          </a:prstGeom>
          <a:solidFill>
            <a:srgbClr val="2A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995928" y="4462272"/>
            <a:ext cx="1517904" cy="694944"/>
          </a:xfrm>
          <a:prstGeom prst="rect">
            <a:avLst/>
          </a:prstGeom>
          <a:noFill/>
        </p:spPr>
        <p:txBody>
          <a:bodyPr wrap="square" anchor="ctr" lIns="0" rIns="0" tIns="0" bIns="0">
            <a:spAutoFit/>
          </a:bodyPr>
          <a:lstStyle/>
          <a:p>
            <a:pPr algn="l">
              <a:spcAft>
                <a:spcPts val="0"/>
              </a:spcAft>
            </a:pPr>
            <a:r>
              <a:rPr sz="1250" b="1" i="0">
                <a:solidFill>
                  <a:srgbClr val="FFFFFF"/>
                </a:solidFill>
                <a:latin typeface="Calibri"/>
              </a:rPr>
              <a:t>embed()</a:t>
            </a:r>
          </a:p>
          <a:p>
            <a:pPr algn="l">
              <a:spcAft>
                <a:spcPts val="0"/>
              </a:spcAft>
            </a:pPr>
            <a:r>
              <a:rPr sz="1000" b="0" i="0">
                <a:solidFill>
                  <a:srgbClr val="B8B8D0"/>
                </a:solidFill>
                <a:latin typeface="Calibri"/>
              </a:rPr>
              <a:t>MiniLM-L6 encoder</a:t>
            </a:r>
          </a:p>
        </p:txBody>
      </p:sp>
      <p:sp>
        <p:nvSpPr>
          <p:cNvPr id="41" name="Rounded Rectangle 40"/>
          <p:cNvSpPr/>
          <p:nvPr/>
        </p:nvSpPr>
        <p:spPr>
          <a:xfrm>
            <a:off x="5715000" y="4462272"/>
            <a:ext cx="1719072" cy="694944"/>
          </a:xfrm>
          <a:prstGeom prst="roundRect">
            <a:avLst>
              <a:gd name="adj" fmla="val 12000"/>
            </a:avLst>
          </a:prstGeom>
          <a:solidFill>
            <a:srgbClr val="2A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824728" y="4462272"/>
            <a:ext cx="1517904" cy="694944"/>
          </a:xfrm>
          <a:prstGeom prst="rect">
            <a:avLst/>
          </a:prstGeom>
          <a:noFill/>
        </p:spPr>
        <p:txBody>
          <a:bodyPr wrap="square" anchor="ctr" lIns="0" rIns="0" tIns="0" bIns="0">
            <a:spAutoFit/>
          </a:bodyPr>
          <a:lstStyle/>
          <a:p>
            <a:pPr algn="l">
              <a:spcAft>
                <a:spcPts val="0"/>
              </a:spcAft>
            </a:pPr>
            <a:r>
              <a:rPr sz="1250" b="1" i="0">
                <a:solidFill>
                  <a:srgbClr val="FFFFFF"/>
                </a:solidFill>
                <a:latin typeface="Calibri"/>
              </a:rPr>
              <a:t>cluster centroids</a:t>
            </a:r>
          </a:p>
          <a:p>
            <a:pPr algn="l">
              <a:spcAft>
                <a:spcPts val="0"/>
              </a:spcAft>
            </a:pPr>
            <a:r>
              <a:rPr sz="1000" b="0" i="0">
                <a:solidFill>
                  <a:srgbClr val="B8B8D0"/>
                </a:solidFill>
                <a:latin typeface="Calibri"/>
              </a:rPr>
              <a:t>k-means, k by silhouette</a:t>
            </a:r>
          </a:p>
        </p:txBody>
      </p:sp>
      <p:sp>
        <p:nvSpPr>
          <p:cNvPr id="43" name="Rounded Rectangle 42"/>
          <p:cNvSpPr/>
          <p:nvPr/>
        </p:nvSpPr>
        <p:spPr>
          <a:xfrm>
            <a:off x="7543800" y="4462272"/>
            <a:ext cx="1719072" cy="694944"/>
          </a:xfrm>
          <a:prstGeom prst="roundRect">
            <a:avLst>
              <a:gd name="adj" fmla="val 12000"/>
            </a:avLst>
          </a:prstGeom>
          <a:solidFill>
            <a:srgbClr val="2A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7" y="4462272"/>
            <a:ext cx="1517904" cy="694944"/>
          </a:xfrm>
          <a:prstGeom prst="rect">
            <a:avLst/>
          </a:prstGeom>
          <a:noFill/>
        </p:spPr>
        <p:txBody>
          <a:bodyPr wrap="square" anchor="ctr" lIns="0" rIns="0" tIns="0" bIns="0">
            <a:spAutoFit/>
          </a:bodyPr>
          <a:lstStyle/>
          <a:p>
            <a:pPr algn="l">
              <a:spcAft>
                <a:spcPts val="0"/>
              </a:spcAft>
            </a:pPr>
            <a:r>
              <a:rPr sz="1250" b="1" i="0">
                <a:solidFill>
                  <a:srgbClr val="FFFFFF"/>
                </a:solidFill>
                <a:latin typeface="Calibri"/>
              </a:rPr>
              <a:t>extract_slots()</a:t>
            </a:r>
          </a:p>
          <a:p>
            <a:pPr algn="l">
              <a:spcAft>
                <a:spcPts val="0"/>
              </a:spcAft>
            </a:pPr>
            <a:r>
              <a:rPr sz="1000" b="0" i="0">
                <a:solidFill>
                  <a:srgbClr val="B8B8D0"/>
                </a:solidFill>
                <a:latin typeface="Calibri"/>
              </a:rPr>
              <a:t>regex + corpus gazetteer</a:t>
            </a:r>
          </a:p>
        </p:txBody>
      </p:sp>
      <p:sp>
        <p:nvSpPr>
          <p:cNvPr id="45" name="Rounded Rectangle 44"/>
          <p:cNvSpPr/>
          <p:nvPr/>
        </p:nvSpPr>
        <p:spPr>
          <a:xfrm>
            <a:off x="9372600" y="4462272"/>
            <a:ext cx="1719072" cy="694944"/>
          </a:xfrm>
          <a:prstGeom prst="roundRect">
            <a:avLst>
              <a:gd name="adj" fmla="val 12000"/>
            </a:avLst>
          </a:prstGeom>
          <a:solidFill>
            <a:srgbClr val="2A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482328" y="4462272"/>
            <a:ext cx="1517904" cy="694944"/>
          </a:xfrm>
          <a:prstGeom prst="rect">
            <a:avLst/>
          </a:prstGeom>
          <a:noFill/>
        </p:spPr>
        <p:txBody>
          <a:bodyPr wrap="square" anchor="ctr" lIns="0" rIns="0" tIns="0" bIns="0">
            <a:spAutoFit/>
          </a:bodyPr>
          <a:lstStyle/>
          <a:p>
            <a:pPr algn="l">
              <a:spcAft>
                <a:spcPts val="0"/>
              </a:spcAft>
            </a:pPr>
            <a:r>
              <a:rPr sz="1250" b="1" i="0">
                <a:solidFill>
                  <a:srgbClr val="FFFFFF"/>
                </a:solidFill>
                <a:latin typeface="Calibri"/>
              </a:rPr>
              <a:t>entails()</a:t>
            </a:r>
          </a:p>
          <a:p>
            <a:pPr algn="l">
              <a:spcAft>
                <a:spcPts val="0"/>
              </a:spcAft>
            </a:pPr>
            <a:r>
              <a:rPr sz="1000" b="0" i="0">
                <a:solidFill>
                  <a:srgbClr val="B8B8D0"/>
                </a:solidFill>
                <a:latin typeface="Calibri"/>
              </a:rPr>
              <a:t>NLI cross-encoder</a:t>
            </a:r>
          </a:p>
        </p:txBody>
      </p:sp>
      <p:sp>
        <p:nvSpPr>
          <p:cNvPr id="47" name="Rounded Rectangle 46"/>
          <p:cNvSpPr/>
          <p:nvPr/>
        </p:nvSpPr>
        <p:spPr>
          <a:xfrm>
            <a:off x="841248" y="5504688"/>
            <a:ext cx="5120640" cy="713232"/>
          </a:xfrm>
          <a:prstGeom prst="roundRect">
            <a:avLst>
              <a:gd name="adj" fmla="val 12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24128" y="5504688"/>
            <a:ext cx="4846320" cy="713232"/>
          </a:xfrm>
          <a:prstGeom prst="rect">
            <a:avLst/>
          </a:prstGeom>
          <a:noFill/>
        </p:spPr>
        <p:txBody>
          <a:bodyPr wrap="square" anchor="ctr" lIns="0" rIns="0" tIns="0" bIns="0">
            <a:spAutoFit/>
          </a:bodyPr>
          <a:lstStyle/>
          <a:p>
            <a:pPr algn="l">
              <a:spcAft>
                <a:spcPts val="400"/>
              </a:spcAft>
            </a:pPr>
            <a:r>
              <a:rPr sz="1200" b="1" i="0">
                <a:solidFill>
                  <a:srgbClr val="2E9E8F"/>
                </a:solidFill>
                <a:latin typeface="Calibri"/>
              </a:rPr>
              <a:t>Output  </a:t>
            </a:r>
            <a:r>
              <a:rPr sz="1200" b="0" i="0">
                <a:solidFill>
                  <a:srgbClr val="16162E"/>
                </a:solidFill>
                <a:latin typeface="Calibri"/>
              </a:rPr>
              <a:t>streamed answer + [Doc_ID §N] citations + explicit uncertainty + JSONL trace</a:t>
            </a:r>
          </a:p>
        </p:txBody>
      </p:sp>
      <p:sp>
        <p:nvSpPr>
          <p:cNvPr id="49" name="Rounded Rectangle 48"/>
          <p:cNvSpPr/>
          <p:nvPr/>
        </p:nvSpPr>
        <p:spPr>
          <a:xfrm>
            <a:off x="6163056" y="5504688"/>
            <a:ext cx="5120640" cy="713232"/>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45936" y="5504688"/>
            <a:ext cx="4846320" cy="713232"/>
          </a:xfrm>
          <a:prstGeom prst="rect">
            <a:avLst/>
          </a:prstGeom>
          <a:noFill/>
        </p:spPr>
        <p:txBody>
          <a:bodyPr wrap="square" anchor="ctr" lIns="0" rIns="0" tIns="0" bIns="0">
            <a:spAutoFit/>
          </a:bodyPr>
          <a:lstStyle/>
          <a:p>
            <a:pPr algn="l">
              <a:spcAft>
                <a:spcPts val="400"/>
              </a:spcAft>
            </a:pPr>
            <a:r>
              <a:rPr sz="1200" b="1" i="0">
                <a:solidFill>
                  <a:srgbClr val="3B63D8"/>
                </a:solidFill>
                <a:latin typeface="Calibri"/>
              </a:rPr>
              <a:t>Branch lifecycle  </a:t>
            </a:r>
            <a:r>
              <a:rPr sz="1200" b="0" i="0">
                <a:solidFill>
                  <a:srgbClr val="16162E"/>
                </a:solidFill>
                <a:latin typeface="Calibri"/>
              </a:rPr>
              <a:t>forking → alive → promoted | pruned; ungrounded → fallback sequential (never worse than batch)</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TextBox 2"/>
          <p:cNvSpPr txBox="1"/>
          <p:nvPr/>
        </p:nvSpPr>
        <p:spPr>
          <a:xfrm>
            <a:off x="841248" y="1417320"/>
            <a:ext cx="10424160" cy="365760"/>
          </a:xfrm>
          <a:prstGeom prst="rect">
            <a:avLst/>
          </a:prstGeom>
          <a:noFill/>
        </p:spPr>
        <p:txBody>
          <a:bodyPr wrap="square" anchor="t" lIns="0" rIns="0" tIns="0" bIns="0">
            <a:spAutoFit/>
          </a:bodyPr>
          <a:lstStyle/>
          <a:p>
            <a:pPr algn="l">
              <a:spcAft>
                <a:spcPts val="400"/>
              </a:spcAft>
            </a:pPr>
            <a:r>
              <a:rPr sz="1350" b="0" i="0">
                <a:solidFill>
                  <a:srgbClr val="5B5B6E"/>
                </a:solidFill>
                <a:latin typeface="Calibri"/>
              </a:rPr>
              <a:t>Guide Example 1, replayed by </a:t>
            </a:r>
            <a:r>
              <a:rPr sz="1350" b="1" i="0">
                <a:solidFill>
                  <a:srgbClr val="6D28D9"/>
                </a:solidFill>
                <a:latin typeface="Consolas"/>
              </a:rPr>
              <a:t>python run_demo.py --realtime</a:t>
            </a:r>
            <a:r>
              <a:rPr sz="1350" b="0" i="0">
                <a:solidFill>
                  <a:srgbClr val="5B5B6E"/>
                </a:solidFill>
                <a:latin typeface="Calibri"/>
              </a:rPr>
              <a:t> — every step below is a logged event</a:t>
            </a:r>
          </a:p>
        </p:txBody>
      </p:sp>
      <p:cxnSp>
        <p:nvCxnSpPr>
          <p:cNvPr id="4" name="Connector 3"/>
          <p:cNvCxnSpPr/>
          <p:nvPr/>
        </p:nvCxnSpPr>
        <p:spPr>
          <a:xfrm>
            <a:off x="1280160" y="2240280"/>
            <a:ext cx="9601200" cy="0"/>
          </a:xfrm>
          <a:prstGeom prst="line">
            <a:avLst/>
          </a:prstGeom>
          <a:ln w="38100">
            <a:solidFill>
              <a:srgbClr val="D9D3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115568" y="2075688"/>
            <a:ext cx="329184" cy="329184"/>
          </a:xfrm>
          <a:prstGeom prst="ellipse">
            <a:avLst/>
          </a:prstGeom>
          <a:solidFill>
            <a:srgbClr val="5B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1783080"/>
            <a:ext cx="2377440" cy="274320"/>
          </a:xfrm>
          <a:prstGeom prst="rect">
            <a:avLst/>
          </a:prstGeom>
          <a:noFill/>
        </p:spPr>
        <p:txBody>
          <a:bodyPr wrap="square" anchor="t" lIns="0" rIns="0" tIns="0" bIns="0">
            <a:spAutoFit/>
          </a:bodyPr>
          <a:lstStyle/>
          <a:p>
            <a:pPr algn="l">
              <a:spcAft>
                <a:spcPts val="400"/>
              </a:spcAft>
            </a:pPr>
            <a:r>
              <a:rPr sz="1200" b="1" i="0">
                <a:solidFill>
                  <a:srgbClr val="5B5B6E"/>
                </a:solidFill>
                <a:latin typeface="Calibri"/>
              </a:rPr>
              <a:t>0.0 s</a:t>
            </a:r>
          </a:p>
        </p:txBody>
      </p:sp>
      <p:sp>
        <p:nvSpPr>
          <p:cNvPr id="7" name="TextBox 6"/>
          <p:cNvSpPr txBox="1"/>
          <p:nvPr/>
        </p:nvSpPr>
        <p:spPr>
          <a:xfrm>
            <a:off x="1005840" y="2487168"/>
            <a:ext cx="2468880" cy="320040"/>
          </a:xfrm>
          <a:prstGeom prst="rect">
            <a:avLst/>
          </a:prstGeom>
          <a:noFill/>
        </p:spPr>
        <p:txBody>
          <a:bodyPr wrap="square" anchor="t" lIns="0" rIns="0" tIns="0" bIns="0">
            <a:spAutoFit/>
          </a:bodyPr>
          <a:lstStyle/>
          <a:p>
            <a:pPr algn="l">
              <a:spcAft>
                <a:spcPts val="400"/>
              </a:spcAft>
            </a:pPr>
            <a:r>
              <a:rPr sz="1400" b="1" i="0">
                <a:solidFill>
                  <a:srgbClr val="5B5B6E"/>
                </a:solidFill>
                <a:latin typeface="Calibri"/>
              </a:rPr>
              <a:t>WAIT</a:t>
            </a:r>
          </a:p>
        </p:txBody>
      </p:sp>
      <p:sp>
        <p:nvSpPr>
          <p:cNvPr id="8" name="TextBox 7"/>
          <p:cNvSpPr txBox="1"/>
          <p:nvPr/>
        </p:nvSpPr>
        <p:spPr>
          <a:xfrm>
            <a:off x="1005840" y="2788920"/>
            <a:ext cx="2468880" cy="777240"/>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“…customer workshop in” — no slot, topic not yet stable</a:t>
            </a:r>
          </a:p>
        </p:txBody>
      </p:sp>
      <p:sp>
        <p:nvSpPr>
          <p:cNvPr id="9" name="Oval 8"/>
          <p:cNvSpPr/>
          <p:nvPr/>
        </p:nvSpPr>
        <p:spPr>
          <a:xfrm>
            <a:off x="3813048" y="2075688"/>
            <a:ext cx="329184" cy="329184"/>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03320" y="1783080"/>
            <a:ext cx="2377440" cy="274320"/>
          </a:xfrm>
          <a:prstGeom prst="rect">
            <a:avLst/>
          </a:prstGeom>
          <a:noFill/>
        </p:spPr>
        <p:txBody>
          <a:bodyPr wrap="square" anchor="t" lIns="0" rIns="0" tIns="0" bIns="0">
            <a:spAutoFit/>
          </a:bodyPr>
          <a:lstStyle/>
          <a:p>
            <a:pPr algn="l">
              <a:spcAft>
                <a:spcPts val="400"/>
              </a:spcAft>
            </a:pPr>
            <a:r>
              <a:rPr sz="1200" b="1" i="0">
                <a:solidFill>
                  <a:srgbClr val="3B63D8"/>
                </a:solidFill>
                <a:latin typeface="Calibri"/>
              </a:rPr>
              <a:t>0.8 s</a:t>
            </a:r>
          </a:p>
        </p:txBody>
      </p:sp>
      <p:sp>
        <p:nvSpPr>
          <p:cNvPr id="11" name="TextBox 10"/>
          <p:cNvSpPr txBox="1"/>
          <p:nvPr/>
        </p:nvSpPr>
        <p:spPr>
          <a:xfrm>
            <a:off x="3703320" y="2487168"/>
            <a:ext cx="2468880" cy="320040"/>
          </a:xfrm>
          <a:prstGeom prst="rect">
            <a:avLst/>
          </a:prstGeom>
          <a:noFill/>
        </p:spPr>
        <p:txBody>
          <a:bodyPr wrap="square" anchor="t" lIns="0" rIns="0" tIns="0" bIns="0">
            <a:spAutoFit/>
          </a:bodyPr>
          <a:lstStyle/>
          <a:p>
            <a:pPr algn="l">
              <a:spcAft>
                <a:spcPts val="400"/>
              </a:spcAft>
            </a:pPr>
            <a:r>
              <a:rPr sz="1400" b="1" i="0">
                <a:solidFill>
                  <a:srgbClr val="3B63D8"/>
                </a:solidFill>
                <a:latin typeface="Calibri"/>
              </a:rPr>
              <a:t>FORK</a:t>
            </a:r>
          </a:p>
        </p:txBody>
      </p:sp>
      <p:sp>
        <p:nvSpPr>
          <p:cNvPr id="12" name="TextBox 11"/>
          <p:cNvSpPr txBox="1"/>
          <p:nvPr/>
        </p:nvSpPr>
        <p:spPr>
          <a:xfrm>
            <a:off x="3703320" y="2788920"/>
            <a:ext cx="2468880" cy="777240"/>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Pune + 30 people heard → provisional venue branch retrieves</a:t>
            </a:r>
          </a:p>
        </p:txBody>
      </p:sp>
      <p:sp>
        <p:nvSpPr>
          <p:cNvPr id="13" name="Oval 12"/>
          <p:cNvSpPr/>
          <p:nvPr/>
        </p:nvSpPr>
        <p:spPr>
          <a:xfrm>
            <a:off x="6510528" y="2075688"/>
            <a:ext cx="329184" cy="3291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1783080"/>
            <a:ext cx="2377440" cy="274320"/>
          </a:xfrm>
          <a:prstGeom prst="rect">
            <a:avLst/>
          </a:prstGeom>
          <a:noFill/>
        </p:spPr>
        <p:txBody>
          <a:bodyPr wrap="square" anchor="t" lIns="0" rIns="0" tIns="0" bIns="0">
            <a:spAutoFit/>
          </a:bodyPr>
          <a:lstStyle/>
          <a:p>
            <a:pPr algn="l">
              <a:spcAft>
                <a:spcPts val="400"/>
              </a:spcAft>
            </a:pPr>
            <a:r>
              <a:rPr sz="1200" b="1" i="0">
                <a:solidFill>
                  <a:srgbClr val="6D28D9"/>
                </a:solidFill>
                <a:latin typeface="Calibri"/>
              </a:rPr>
              <a:t>1.6 s</a:t>
            </a:r>
          </a:p>
        </p:txBody>
      </p:sp>
      <p:sp>
        <p:nvSpPr>
          <p:cNvPr id="15" name="TextBox 14"/>
          <p:cNvSpPr txBox="1"/>
          <p:nvPr/>
        </p:nvSpPr>
        <p:spPr>
          <a:xfrm>
            <a:off x="6400800" y="2487168"/>
            <a:ext cx="2468880" cy="320040"/>
          </a:xfrm>
          <a:prstGeom prst="rect">
            <a:avLst/>
          </a:prstGeom>
          <a:noFill/>
        </p:spPr>
        <p:txBody>
          <a:bodyPr wrap="square" anchor="t" lIns="0" rIns="0" tIns="0" bIns="0">
            <a:spAutoFit/>
          </a:bodyPr>
          <a:lstStyle/>
          <a:p>
            <a:pPr algn="l">
              <a:spcAft>
                <a:spcPts val="400"/>
              </a:spcAft>
            </a:pPr>
            <a:r>
              <a:rPr sz="1400" b="1" i="0">
                <a:solidFill>
                  <a:srgbClr val="6D28D9"/>
                </a:solidFill>
                <a:latin typeface="Calibri"/>
              </a:rPr>
              <a:t>DECOMPOSE</a:t>
            </a:r>
          </a:p>
        </p:txBody>
      </p:sp>
      <p:sp>
        <p:nvSpPr>
          <p:cNvPr id="16" name="TextBox 15"/>
          <p:cNvSpPr txBox="1"/>
          <p:nvPr/>
        </p:nvSpPr>
        <p:spPr>
          <a:xfrm>
            <a:off x="6400800" y="2788920"/>
            <a:ext cx="2468880" cy="777240"/>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3 intents → cancellation &amp; catering branches fork; claims verified speculatively</a:t>
            </a:r>
          </a:p>
        </p:txBody>
      </p:sp>
      <p:sp>
        <p:nvSpPr>
          <p:cNvPr id="17" name="Oval 16"/>
          <p:cNvSpPr/>
          <p:nvPr/>
        </p:nvSpPr>
        <p:spPr>
          <a:xfrm>
            <a:off x="9208008" y="2075688"/>
            <a:ext cx="329184" cy="329184"/>
          </a:xfrm>
          <a:prstGeom prst="ellipse">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098280" y="1783080"/>
            <a:ext cx="2377440" cy="274320"/>
          </a:xfrm>
          <a:prstGeom prst="rect">
            <a:avLst/>
          </a:prstGeom>
          <a:noFill/>
        </p:spPr>
        <p:txBody>
          <a:bodyPr wrap="square" anchor="t" lIns="0" rIns="0" tIns="0" bIns="0">
            <a:spAutoFit/>
          </a:bodyPr>
          <a:lstStyle/>
          <a:p>
            <a:pPr algn="l">
              <a:spcAft>
                <a:spcPts val="400"/>
              </a:spcAft>
            </a:pPr>
            <a:r>
              <a:rPr sz="1200" b="1" i="0">
                <a:solidFill>
                  <a:srgbClr val="2E9E8F"/>
                </a:solidFill>
                <a:latin typeface="Calibri"/>
              </a:rPr>
              <a:t>2.1 s</a:t>
            </a:r>
          </a:p>
        </p:txBody>
      </p:sp>
      <p:sp>
        <p:nvSpPr>
          <p:cNvPr id="19" name="TextBox 18"/>
          <p:cNvSpPr txBox="1"/>
          <p:nvPr/>
        </p:nvSpPr>
        <p:spPr>
          <a:xfrm>
            <a:off x="9098280" y="2487168"/>
            <a:ext cx="2468880" cy="320040"/>
          </a:xfrm>
          <a:prstGeom prst="rect">
            <a:avLst/>
          </a:prstGeom>
          <a:noFill/>
        </p:spPr>
        <p:txBody>
          <a:bodyPr wrap="square" anchor="t" lIns="0" rIns="0" tIns="0" bIns="0">
            <a:spAutoFit/>
          </a:bodyPr>
          <a:lstStyle/>
          <a:p>
            <a:pPr algn="l">
              <a:spcAft>
                <a:spcPts val="400"/>
              </a:spcAft>
            </a:pPr>
            <a:r>
              <a:rPr sz="1400" b="1" i="0">
                <a:solidFill>
                  <a:srgbClr val="2E9E8F"/>
                </a:solidFill>
                <a:latin typeface="Calibri"/>
              </a:rPr>
              <a:t>ANSWER</a:t>
            </a:r>
          </a:p>
        </p:txBody>
      </p:sp>
      <p:sp>
        <p:nvSpPr>
          <p:cNvPr id="20" name="TextBox 19"/>
          <p:cNvSpPr txBox="1"/>
          <p:nvPr/>
        </p:nvSpPr>
        <p:spPr>
          <a:xfrm>
            <a:off x="9098280" y="2788920"/>
            <a:ext cx="2468880" cy="777240"/>
          </a:xfrm>
          <a:prstGeom prst="rect">
            <a:avLst/>
          </a:prstGeom>
          <a:noFill/>
        </p:spPr>
        <p:txBody>
          <a:bodyPr wrap="square" anchor="t" lIns="0" rIns="0" tIns="0" bIns="0">
            <a:spAutoFit/>
          </a:bodyPr>
          <a:lstStyle/>
          <a:p>
            <a:pPr algn="l">
              <a:spcAft>
                <a:spcPts val="400"/>
              </a:spcAft>
            </a:pPr>
            <a:r>
              <a:rPr sz="1150" b="0" i="0">
                <a:solidFill>
                  <a:srgbClr val="16162E"/>
                </a:solidFill>
                <a:latin typeface="Calibri"/>
              </a:rPr>
              <a:t>3 cited claims ready tens of ms after the user stops</a:t>
            </a:r>
          </a:p>
        </p:txBody>
      </p:sp>
      <p:sp>
        <p:nvSpPr>
          <p:cNvPr id="21" name="Rounded Rectangle 20"/>
          <p:cNvSpPr/>
          <p:nvPr/>
        </p:nvSpPr>
        <p:spPr>
          <a:xfrm>
            <a:off x="841248" y="3749039"/>
            <a:ext cx="3364992" cy="20116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42416" y="3858768"/>
            <a:ext cx="3017520" cy="365760"/>
          </a:xfrm>
          <a:prstGeom prst="rect">
            <a:avLst/>
          </a:prstGeom>
          <a:noFill/>
        </p:spPr>
        <p:txBody>
          <a:bodyPr wrap="square" anchor="t" lIns="0" rIns="0" tIns="0" bIns="0">
            <a:spAutoFit/>
          </a:bodyPr>
          <a:lstStyle/>
          <a:p>
            <a:pPr algn="l">
              <a:spcAft>
                <a:spcPts val="400"/>
              </a:spcAft>
            </a:pPr>
            <a:r>
              <a:rPr sz="1450" b="1" i="0">
                <a:solidFill>
                  <a:srgbClr val="6D28D9"/>
                </a:solidFill>
                <a:latin typeface="Calibri"/>
              </a:rPr>
              <a:t>Ex 1 · multi-intent</a:t>
            </a:r>
          </a:p>
        </p:txBody>
      </p:sp>
      <p:sp>
        <p:nvSpPr>
          <p:cNvPr id="23" name="TextBox 22"/>
          <p:cNvSpPr txBox="1"/>
          <p:nvPr/>
        </p:nvSpPr>
        <p:spPr>
          <a:xfrm>
            <a:off x="1042416" y="4297680"/>
            <a:ext cx="3017520" cy="1417320"/>
          </a:xfrm>
          <a:prstGeom prst="rect">
            <a:avLst/>
          </a:prstGeom>
          <a:noFill/>
        </p:spPr>
        <p:txBody>
          <a:bodyPr wrap="square" anchor="t" lIns="0" rIns="0" tIns="0" bIns="0">
            <a:spAutoFit/>
          </a:bodyPr>
          <a:lstStyle/>
          <a:p>
            <a:pPr algn="l" marL="201168" indent="-182880">
              <a:spcAft>
                <a:spcPts val="400"/>
              </a:spcAft>
              <a:buClr>
                <a:srgbClr val="6D28D9"/>
              </a:buClr>
              <a:buChar char="•"/>
            </a:pPr>
            <a:r>
              <a:rPr sz="1150" b="0" i="0">
                <a:solidFill>
                  <a:srgbClr val="16162E"/>
                </a:solidFill>
                <a:latin typeface="Calibri"/>
              </a:rPr>
              <a:t>Hall B fits ~30 people, INR 38,000/day [Doc_12 §3]</a:t>
            </a:r>
          </a:p>
          <a:p>
            <a:pPr algn="l" marL="201168" indent="-182880">
              <a:spcAft>
                <a:spcPts val="400"/>
              </a:spcAft>
              <a:buClr>
                <a:srgbClr val="6D28D9"/>
              </a:buClr>
              <a:buChar char="•"/>
            </a:pPr>
            <a:r>
              <a:rPr sz="1150" b="0" i="0">
                <a:solidFill>
                  <a:srgbClr val="16162E"/>
                </a:solidFill>
                <a:latin typeface="Calibri"/>
              </a:rPr>
              <a:t>Cancellation 15–29 days → 50 % deposit forfeited [Doc_31 §4]</a:t>
            </a:r>
          </a:p>
          <a:p>
            <a:pPr algn="l" marL="201168" indent="-182880">
              <a:spcAft>
                <a:spcPts val="400"/>
              </a:spcAft>
              <a:buClr>
                <a:srgbClr val="6D28D9"/>
              </a:buClr>
              <a:buChar char="•"/>
            </a:pPr>
            <a:r>
              <a:rPr sz="1150" b="0" i="0">
                <a:solidFill>
                  <a:srgbClr val="16162E"/>
                </a:solidFill>
                <a:latin typeface="Calibri"/>
              </a:rPr>
              <a:t>In-house catering required [Doc_09 §1]</a:t>
            </a:r>
          </a:p>
        </p:txBody>
      </p:sp>
      <p:sp>
        <p:nvSpPr>
          <p:cNvPr id="24" name="Rounded Rectangle 23"/>
          <p:cNvSpPr/>
          <p:nvPr/>
        </p:nvSpPr>
        <p:spPr>
          <a:xfrm>
            <a:off x="4379976" y="3749039"/>
            <a:ext cx="3364992" cy="20116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81144" y="3858768"/>
            <a:ext cx="3017520" cy="365760"/>
          </a:xfrm>
          <a:prstGeom prst="rect">
            <a:avLst/>
          </a:prstGeom>
          <a:noFill/>
        </p:spPr>
        <p:txBody>
          <a:bodyPr wrap="square" anchor="t" lIns="0" rIns="0" tIns="0" bIns="0">
            <a:spAutoFit/>
          </a:bodyPr>
          <a:lstStyle/>
          <a:p>
            <a:pPr algn="l">
              <a:spcAft>
                <a:spcPts val="400"/>
              </a:spcAft>
            </a:pPr>
            <a:r>
              <a:rPr sz="1450" b="1" i="0">
                <a:solidFill>
                  <a:srgbClr val="3B63D8"/>
                </a:solidFill>
                <a:latin typeface="Calibri"/>
              </a:rPr>
              <a:t>Ex 2 · late constraint</a:t>
            </a:r>
          </a:p>
        </p:txBody>
      </p:sp>
      <p:sp>
        <p:nvSpPr>
          <p:cNvPr id="26" name="TextBox 25"/>
          <p:cNvSpPr txBox="1"/>
          <p:nvPr/>
        </p:nvSpPr>
        <p:spPr>
          <a:xfrm>
            <a:off x="4581144" y="4297680"/>
            <a:ext cx="3017520" cy="1417320"/>
          </a:xfrm>
          <a:prstGeom prst="rect">
            <a:avLst/>
          </a:prstGeom>
          <a:noFill/>
        </p:spPr>
        <p:txBody>
          <a:bodyPr wrap="square" anchor="t" lIns="0" rIns="0" tIns="0" bIns="0">
            <a:spAutoFit/>
          </a:bodyPr>
          <a:lstStyle/>
          <a:p>
            <a:pPr algn="l" marL="201168" indent="-182880">
              <a:spcAft>
                <a:spcPts val="400"/>
              </a:spcAft>
              <a:buClr>
                <a:srgbClr val="6D28D9"/>
              </a:buClr>
              <a:buChar char="•"/>
            </a:pPr>
            <a:r>
              <a:rPr sz="1150" b="0" i="0">
                <a:solidFill>
                  <a:srgbClr val="16162E"/>
                </a:solidFill>
                <a:latin typeface="Calibri"/>
              </a:rPr>
              <a:t>v1: standard reimbursement rule [Doc_05 §2]</a:t>
            </a:r>
          </a:p>
          <a:p>
            <a:pPr algn="l" marL="201168" indent="-182880">
              <a:spcAft>
                <a:spcPts val="400"/>
              </a:spcAft>
              <a:buClr>
                <a:srgbClr val="6D28D9"/>
              </a:buClr>
              <a:buChar char="•"/>
            </a:pPr>
            <a:r>
              <a:rPr sz="1150" b="0" i="0">
                <a:solidFill>
                  <a:srgbClr val="16162E"/>
                </a:solidFill>
                <a:latin typeface="Calibri"/>
              </a:rPr>
              <a:t>“International, booked after travel” → v2 keeps v1 claim, adds [Doc_06 §1] + post-travel exception [Doc_07 §2]</a:t>
            </a:r>
          </a:p>
          <a:p>
            <a:pPr algn="l" marL="201168" indent="-182880">
              <a:spcAft>
                <a:spcPts val="400"/>
              </a:spcAft>
              <a:buClr>
                <a:srgbClr val="6D28D9"/>
              </a:buClr>
              <a:buChar char="•"/>
            </a:pPr>
            <a:r>
              <a:rPr sz="1150" b="0" i="0">
                <a:solidFill>
                  <a:srgbClr val="16162E"/>
                </a:solidFill>
                <a:latin typeface="Calibri"/>
              </a:rPr>
              <a:t>Delta search scoped: 12 of 71 chunks</a:t>
            </a:r>
          </a:p>
        </p:txBody>
      </p:sp>
      <p:sp>
        <p:nvSpPr>
          <p:cNvPr id="27" name="Rounded Rectangle 26"/>
          <p:cNvSpPr/>
          <p:nvPr/>
        </p:nvSpPr>
        <p:spPr>
          <a:xfrm>
            <a:off x="7918704" y="3749039"/>
            <a:ext cx="3364992" cy="2011680"/>
          </a:xfrm>
          <a:prstGeom prst="roundRect">
            <a:avLst>
              <a:gd name="adj" fmla="val 12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119872" y="3858768"/>
            <a:ext cx="3017520" cy="365760"/>
          </a:xfrm>
          <a:prstGeom prst="rect">
            <a:avLst/>
          </a:prstGeom>
          <a:noFill/>
        </p:spPr>
        <p:txBody>
          <a:bodyPr wrap="square" anchor="t" lIns="0" rIns="0" tIns="0" bIns="0">
            <a:spAutoFit/>
          </a:bodyPr>
          <a:lstStyle/>
          <a:p>
            <a:pPr algn="l">
              <a:spcAft>
                <a:spcPts val="400"/>
              </a:spcAft>
            </a:pPr>
            <a:r>
              <a:rPr sz="1450" b="1" i="0">
                <a:solidFill>
                  <a:srgbClr val="2E9E8F"/>
                </a:solidFill>
                <a:latin typeface="Calibri"/>
              </a:rPr>
              <a:t>Ex 3 · presentation turn</a:t>
            </a:r>
          </a:p>
        </p:txBody>
      </p:sp>
      <p:sp>
        <p:nvSpPr>
          <p:cNvPr id="29" name="TextBox 28"/>
          <p:cNvSpPr txBox="1"/>
          <p:nvPr/>
        </p:nvSpPr>
        <p:spPr>
          <a:xfrm>
            <a:off x="8119872" y="4297680"/>
            <a:ext cx="3017520" cy="1417320"/>
          </a:xfrm>
          <a:prstGeom prst="rect">
            <a:avLst/>
          </a:prstGeom>
          <a:noFill/>
        </p:spPr>
        <p:txBody>
          <a:bodyPr wrap="square" anchor="t" lIns="0" rIns="0" tIns="0" bIns="0">
            <a:spAutoFit/>
          </a:bodyPr>
          <a:lstStyle/>
          <a:p>
            <a:pPr algn="l" marL="201168" indent="-182880">
              <a:spcAft>
                <a:spcPts val="400"/>
              </a:spcAft>
              <a:buClr>
                <a:srgbClr val="6D28D9"/>
              </a:buClr>
              <a:buChar char="•"/>
            </a:pPr>
            <a:r>
              <a:rPr sz="1150" b="0" i="0">
                <a:solidFill>
                  <a:srgbClr val="16162E"/>
                </a:solidFill>
                <a:latin typeface="Calibri"/>
              </a:rPr>
              <a:t>“Repeat your last answer in two bullets”</a:t>
            </a:r>
          </a:p>
          <a:p>
            <a:pPr algn="l" marL="201168" indent="-182880">
              <a:spcAft>
                <a:spcPts val="400"/>
              </a:spcAft>
              <a:buClr>
                <a:srgbClr val="6D28D9"/>
              </a:buClr>
              <a:buChar char="•"/>
            </a:pPr>
            <a:r>
              <a:rPr sz="1150" b="0" i="0">
                <a:solidFill>
                  <a:srgbClr val="16162E"/>
                </a:solidFill>
                <a:latin typeface="Calibri"/>
              </a:rPr>
              <a:t>retrieval_required: false — 0 searches, 0 generator calls</a:t>
            </a:r>
          </a:p>
          <a:p>
            <a:pPr algn="l" marL="201168" indent="-182880">
              <a:spcAft>
                <a:spcPts val="400"/>
              </a:spcAft>
              <a:buClr>
                <a:srgbClr val="6D28D9"/>
              </a:buClr>
              <a:buChar char="•"/>
            </a:pPr>
            <a:r>
              <a:rPr sz="1150" b="0" i="0">
                <a:solidFill>
                  <a:srgbClr val="16162E"/>
                </a:solidFill>
                <a:latin typeface="Calibri"/>
              </a:rPr>
              <a:t>Same 3 citations, re-rendered as 2 bullets</a:t>
            </a:r>
          </a:p>
        </p:txBody>
      </p:sp>
      <p:sp>
        <p:nvSpPr>
          <p:cNvPr id="30" name="TextBox 29"/>
          <p:cNvSpPr txBox="1"/>
          <p:nvPr/>
        </p:nvSpPr>
        <p:spPr>
          <a:xfrm>
            <a:off x="841248" y="5897880"/>
            <a:ext cx="10424160" cy="365760"/>
          </a:xfrm>
          <a:prstGeom prst="rect">
            <a:avLst/>
          </a:prstGeom>
          <a:noFill/>
        </p:spPr>
        <p:txBody>
          <a:bodyPr wrap="square" anchor="t" lIns="0" rIns="0" tIns="0" bIns="0">
            <a:spAutoFit/>
          </a:bodyPr>
          <a:lstStyle/>
          <a:p>
            <a:pPr algn="l">
              <a:spcAft>
                <a:spcPts val="400"/>
              </a:spcAft>
            </a:pPr>
            <a:r>
              <a:rPr sz="1200" b="1" i="0">
                <a:solidFill>
                  <a:srgbClr val="16162E"/>
                </a:solidFill>
                <a:latin typeface="Calibri"/>
              </a:rPr>
              <a:t>Also shown: </a:t>
            </a:r>
            <a:r>
              <a:rPr sz="1200" b="0" i="0">
                <a:solidFill>
                  <a:srgbClr val="5B5B6E"/>
                </a:solidFill>
                <a:latin typeface="Calibri"/>
              </a:rPr>
              <a:t>topic shift (graph discarded, re-fork) · headcount change 30 → 12 patches only the venue claim mid-utterance · HTML branch-timeline dashboard from the trace</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841248" y="1508760"/>
            <a:ext cx="5120640" cy="8686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24128" y="1691639"/>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Py</a:t>
            </a:r>
          </a:p>
        </p:txBody>
      </p:sp>
      <p:sp>
        <p:nvSpPr>
          <p:cNvPr id="5" name="TextBox 4"/>
          <p:cNvSpPr txBox="1"/>
          <p:nvPr/>
        </p:nvSpPr>
        <p:spPr>
          <a:xfrm>
            <a:off x="1709928" y="1600200"/>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Python 3.11+ · asyncio</a:t>
            </a:r>
          </a:p>
          <a:p>
            <a:pPr algn="l">
              <a:spcAft>
                <a:spcPts val="100"/>
              </a:spcAft>
            </a:pPr>
            <a:r>
              <a:rPr sz="1150" b="0" i="0">
                <a:solidFill>
                  <a:srgbClr val="5B5B6E"/>
                </a:solidFill>
                <a:latin typeface="Calibri"/>
              </a:rPr>
              <a:t>event-driven core; model calls on worker threads — the loop never blocks</a:t>
            </a:r>
          </a:p>
        </p:txBody>
      </p:sp>
      <p:sp>
        <p:nvSpPr>
          <p:cNvPr id="6" name="Rounded Rectangle 5"/>
          <p:cNvSpPr/>
          <p:nvPr/>
        </p:nvSpPr>
        <p:spPr>
          <a:xfrm>
            <a:off x="6190488" y="1508760"/>
            <a:ext cx="5120640" cy="8686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6373368" y="1691639"/>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a:t>
            </a:r>
          </a:p>
        </p:txBody>
      </p:sp>
      <p:sp>
        <p:nvSpPr>
          <p:cNvPr id="8" name="TextBox 7"/>
          <p:cNvSpPr txBox="1"/>
          <p:nvPr/>
        </p:nvSpPr>
        <p:spPr>
          <a:xfrm>
            <a:off x="7059168" y="1600200"/>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sentence-transformers</a:t>
            </a:r>
          </a:p>
          <a:p>
            <a:pPr algn="l">
              <a:spcAft>
                <a:spcPts val="100"/>
              </a:spcAft>
            </a:pPr>
            <a:r>
              <a:rPr sz="1150" b="0" i="0">
                <a:solidFill>
                  <a:srgbClr val="5B5B6E"/>
                </a:solidFill>
                <a:latin typeface="Calibri"/>
              </a:rPr>
              <a:t>all-MiniLM-L6-v2 (22 M) — the one encoder for chunks, buffers, clauses, claims</a:t>
            </a:r>
          </a:p>
        </p:txBody>
      </p:sp>
      <p:sp>
        <p:nvSpPr>
          <p:cNvPr id="9" name="Rounded Rectangle 8"/>
          <p:cNvSpPr/>
          <p:nvPr/>
        </p:nvSpPr>
        <p:spPr>
          <a:xfrm>
            <a:off x="841248" y="2496312"/>
            <a:ext cx="5120640" cy="8686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24128" y="2679192"/>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R</a:t>
            </a:r>
          </a:p>
        </p:txBody>
      </p:sp>
      <p:sp>
        <p:nvSpPr>
          <p:cNvPr id="11" name="TextBox 10"/>
          <p:cNvSpPr txBox="1"/>
          <p:nvPr/>
        </p:nvSpPr>
        <p:spPr>
          <a:xfrm>
            <a:off x="1709928" y="2587752"/>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rank_bm25 + faiss-cpu</a:t>
            </a:r>
          </a:p>
          <a:p>
            <a:pPr algn="l">
              <a:spcAft>
                <a:spcPts val="100"/>
              </a:spcAft>
            </a:pPr>
            <a:r>
              <a:rPr sz="1150" b="0" i="0">
                <a:solidFill>
                  <a:srgbClr val="5B5B6E"/>
                </a:solidFill>
                <a:latin typeface="Calibri"/>
              </a:rPr>
              <a:t>sparse + dense search fused with Reciprocal Rank Fusion, scoped search</a:t>
            </a:r>
          </a:p>
        </p:txBody>
      </p:sp>
      <p:sp>
        <p:nvSpPr>
          <p:cNvPr id="12" name="Rounded Rectangle 11"/>
          <p:cNvSpPr/>
          <p:nvPr/>
        </p:nvSpPr>
        <p:spPr>
          <a:xfrm>
            <a:off x="6190488" y="2496312"/>
            <a:ext cx="5120640" cy="8686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373368" y="2679192"/>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K</a:t>
            </a:r>
          </a:p>
        </p:txBody>
      </p:sp>
      <p:sp>
        <p:nvSpPr>
          <p:cNvPr id="14" name="TextBox 13"/>
          <p:cNvSpPr txBox="1"/>
          <p:nvPr/>
        </p:nvSpPr>
        <p:spPr>
          <a:xfrm>
            <a:off x="7059168" y="2587752"/>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scikit-learn k-means</a:t>
            </a:r>
          </a:p>
          <a:p>
            <a:pPr algn="l">
              <a:spcAft>
                <a:spcPts val="100"/>
              </a:spcAft>
            </a:pPr>
            <a:r>
              <a:rPr sz="1150" b="0" i="0">
                <a:solidFill>
                  <a:srgbClr val="5B5B6E"/>
                </a:solidFill>
                <a:latin typeface="Calibri"/>
              </a:rPr>
              <a:t>topic clusters, k chosen by silhouette — the shared comparison target</a:t>
            </a:r>
          </a:p>
        </p:txBody>
      </p:sp>
      <p:sp>
        <p:nvSpPr>
          <p:cNvPr id="15" name="Rounded Rectangle 14"/>
          <p:cNvSpPr/>
          <p:nvPr/>
        </p:nvSpPr>
        <p:spPr>
          <a:xfrm>
            <a:off x="841248" y="3483864"/>
            <a:ext cx="5120640" cy="8686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024128" y="3666744"/>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V</a:t>
            </a:r>
          </a:p>
        </p:txBody>
      </p:sp>
      <p:sp>
        <p:nvSpPr>
          <p:cNvPr id="17" name="TextBox 16"/>
          <p:cNvSpPr txBox="1"/>
          <p:nvPr/>
        </p:nvSpPr>
        <p:spPr>
          <a:xfrm>
            <a:off x="1709928" y="3575304"/>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NLI cross-encoder</a:t>
            </a:r>
          </a:p>
          <a:p>
            <a:pPr algn="l">
              <a:spcAft>
                <a:spcPts val="100"/>
              </a:spcAft>
            </a:pPr>
            <a:r>
              <a:rPr sz="1150" b="0" i="0">
                <a:solidFill>
                  <a:srgbClr val="5B5B6E"/>
                </a:solidFill>
                <a:latin typeface="Calibri"/>
              </a:rPr>
              <a:t>nli-MiniLM2-L6-H768 (82 M) — independent entailment verifier, micro-batched</a:t>
            </a:r>
          </a:p>
        </p:txBody>
      </p:sp>
      <p:sp>
        <p:nvSpPr>
          <p:cNvPr id="18" name="Rounded Rectangle 17"/>
          <p:cNvSpPr/>
          <p:nvPr/>
        </p:nvSpPr>
        <p:spPr>
          <a:xfrm>
            <a:off x="6190488" y="3483864"/>
            <a:ext cx="5120640" cy="8686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373368" y="3666744"/>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L</a:t>
            </a:r>
          </a:p>
        </p:txBody>
      </p:sp>
      <p:sp>
        <p:nvSpPr>
          <p:cNvPr id="20" name="TextBox 19"/>
          <p:cNvSpPr txBox="1"/>
          <p:nvPr/>
        </p:nvSpPr>
        <p:spPr>
          <a:xfrm>
            <a:off x="7059168" y="3575304"/>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Pluggable async LLM</a:t>
            </a:r>
          </a:p>
          <a:p>
            <a:pPr algn="l">
              <a:spcAft>
                <a:spcPts val="100"/>
              </a:spcAft>
            </a:pPr>
            <a:r>
              <a:rPr sz="1150" b="0" i="0">
                <a:solidFill>
                  <a:srgbClr val="5B5B6E"/>
                </a:solidFill>
                <a:latin typeface="Calibri"/>
              </a:rPr>
              <a:t>offline extractive default; any OpenAI-compatible endpoint via httpx (Gemini, Ollama…)</a:t>
            </a:r>
          </a:p>
        </p:txBody>
      </p:sp>
      <p:sp>
        <p:nvSpPr>
          <p:cNvPr id="21" name="Rounded Rectangle 20"/>
          <p:cNvSpPr/>
          <p:nvPr/>
        </p:nvSpPr>
        <p:spPr>
          <a:xfrm>
            <a:off x="841248" y="4471416"/>
            <a:ext cx="5120640" cy="8686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024128" y="4654296"/>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T</a:t>
            </a:r>
          </a:p>
        </p:txBody>
      </p:sp>
      <p:sp>
        <p:nvSpPr>
          <p:cNvPr id="23" name="TextBox 22"/>
          <p:cNvSpPr txBox="1"/>
          <p:nvPr/>
        </p:nvSpPr>
        <p:spPr>
          <a:xfrm>
            <a:off x="1709928" y="4562856"/>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Telemetry</a:t>
            </a:r>
          </a:p>
          <a:p>
            <a:pPr algn="l">
              <a:spcAft>
                <a:spcPts val="100"/>
              </a:spcAft>
            </a:pPr>
            <a:r>
              <a:rPr sz="1150" b="0" i="0">
                <a:solidFill>
                  <a:srgbClr val="5B5B6E"/>
                </a:solidFill>
                <a:latin typeface="Calibri"/>
              </a:rPr>
              <a:t>JSONL events, trace validator (G6), self-contained HTML branch dashboard</a:t>
            </a:r>
          </a:p>
        </p:txBody>
      </p:sp>
      <p:sp>
        <p:nvSpPr>
          <p:cNvPr id="24" name="Rounded Rectangle 23"/>
          <p:cNvSpPr/>
          <p:nvPr/>
        </p:nvSpPr>
        <p:spPr>
          <a:xfrm>
            <a:off x="6190488" y="4471416"/>
            <a:ext cx="5120640" cy="8686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73368" y="4654296"/>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a:t>
            </a:r>
          </a:p>
        </p:txBody>
      </p:sp>
      <p:sp>
        <p:nvSpPr>
          <p:cNvPr id="26" name="TextBox 25"/>
          <p:cNvSpPr txBox="1"/>
          <p:nvPr/>
        </p:nvSpPr>
        <p:spPr>
          <a:xfrm>
            <a:off x="7059168" y="4562856"/>
            <a:ext cx="4114800" cy="731520"/>
          </a:xfrm>
          <a:prstGeom prst="rect">
            <a:avLst/>
          </a:prstGeom>
          <a:noFill/>
        </p:spPr>
        <p:txBody>
          <a:bodyPr wrap="square" anchor="ctr" lIns="0" rIns="0" tIns="0" bIns="0">
            <a:spAutoFit/>
          </a:bodyPr>
          <a:lstStyle/>
          <a:p>
            <a:pPr algn="l">
              <a:spcAft>
                <a:spcPts val="100"/>
              </a:spcAft>
            </a:pPr>
            <a:r>
              <a:rPr sz="1400" b="1" i="0">
                <a:solidFill>
                  <a:srgbClr val="16162E"/>
                </a:solidFill>
                <a:latin typeface="Calibri"/>
              </a:rPr>
              <a:t>pytest · Docker</a:t>
            </a:r>
          </a:p>
          <a:p>
            <a:pPr algn="l">
              <a:spcAft>
                <a:spcPts val="100"/>
              </a:spcAft>
            </a:pPr>
            <a:r>
              <a:rPr sz="1150" b="0" i="0">
                <a:solidFill>
                  <a:srgbClr val="5B5B6E"/>
                </a:solidFill>
                <a:latin typeface="Calibri"/>
              </a:rPr>
              <a:t>33 tests; docker compose up runs tests + demo + benchmark offline</a:t>
            </a:r>
          </a:p>
        </p:txBody>
      </p:sp>
      <p:sp>
        <p:nvSpPr>
          <p:cNvPr id="27" name="Rounded Rectangle 26"/>
          <p:cNvSpPr/>
          <p:nvPr/>
        </p:nvSpPr>
        <p:spPr>
          <a:xfrm>
            <a:off x="841248" y="5504688"/>
            <a:ext cx="10469880" cy="658368"/>
          </a:xfrm>
          <a:prstGeom prst="roundRect">
            <a:avLst>
              <a:gd name="adj" fmla="val 12000"/>
            </a:avLst>
          </a:prstGeom>
          <a:solidFill>
            <a:srgbClr val="161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51560" y="5504688"/>
            <a:ext cx="10058400" cy="658368"/>
          </a:xfrm>
          <a:prstGeom prst="rect">
            <a:avLst/>
          </a:prstGeom>
          <a:noFill/>
        </p:spPr>
        <p:txBody>
          <a:bodyPr wrap="square" anchor="ctr" lIns="0" rIns="0" tIns="0" bIns="0">
            <a:spAutoFit/>
          </a:bodyPr>
          <a:lstStyle/>
          <a:p>
            <a:pPr algn="l">
              <a:spcAft>
                <a:spcPts val="400"/>
              </a:spcAft>
            </a:pPr>
            <a:r>
              <a:rPr sz="1450" b="1" i="0">
                <a:solidFill>
                  <a:srgbClr val="C4B5FD"/>
                </a:solidFill>
                <a:latin typeface="Calibri"/>
              </a:rPr>
              <a:t>Parsimony: </a:t>
            </a:r>
            <a:r>
              <a:rPr sz="1450" b="0" i="0">
                <a:solidFill>
                  <a:srgbClr val="FFFFFF"/>
                </a:solidFill>
                <a:latin typeface="Calibri"/>
              </a:rPr>
              <a:t>2 small CPU models (~104 M params) · 0 services · no vector DB · no GPU · no API key required</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841248" y="1508760"/>
            <a:ext cx="2468880" cy="192024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24128" y="1600200"/>
            <a:ext cx="2148840" cy="868680"/>
          </a:xfrm>
          <a:prstGeom prst="rect">
            <a:avLst/>
          </a:prstGeom>
          <a:noFill/>
        </p:spPr>
        <p:txBody>
          <a:bodyPr wrap="square" anchor="t" lIns="0" rIns="0" tIns="0" bIns="0">
            <a:spAutoFit/>
          </a:bodyPr>
          <a:lstStyle/>
          <a:p>
            <a:pPr algn="l">
              <a:spcAft>
                <a:spcPts val="400"/>
              </a:spcAft>
            </a:pPr>
            <a:r>
              <a:rPr sz="4000" b="1" i="0">
                <a:solidFill>
                  <a:srgbClr val="6D28D9"/>
                </a:solidFill>
                <a:latin typeface="Calibri"/>
              </a:rPr>
              <a:t>14×</a:t>
            </a:r>
          </a:p>
        </p:txBody>
      </p:sp>
      <p:sp>
        <p:nvSpPr>
          <p:cNvPr id="5" name="TextBox 4"/>
          <p:cNvSpPr txBox="1"/>
          <p:nvPr/>
        </p:nvSpPr>
        <p:spPr>
          <a:xfrm>
            <a:off x="1024128" y="2450592"/>
            <a:ext cx="2148840" cy="320040"/>
          </a:xfrm>
          <a:prstGeom prst="rect">
            <a:avLst/>
          </a:prstGeom>
          <a:noFill/>
        </p:spPr>
        <p:txBody>
          <a:bodyPr wrap="square" anchor="t" lIns="0" rIns="0" tIns="0" bIns="0">
            <a:spAutoFit/>
          </a:bodyPr>
          <a:lstStyle/>
          <a:p>
            <a:pPr algn="l">
              <a:spcAft>
                <a:spcPts val="400"/>
              </a:spcAft>
            </a:pPr>
            <a:r>
              <a:rPr sz="1400" b="1" i="0">
                <a:solidFill>
                  <a:srgbClr val="16162E"/>
                </a:solidFill>
                <a:latin typeface="Calibri"/>
              </a:rPr>
              <a:t>faster answers</a:t>
            </a:r>
          </a:p>
        </p:txBody>
      </p:sp>
      <p:sp>
        <p:nvSpPr>
          <p:cNvPr id="6" name="TextBox 5"/>
          <p:cNvSpPr txBox="1"/>
          <p:nvPr/>
        </p:nvSpPr>
        <p:spPr>
          <a:xfrm>
            <a:off x="1024128" y="2770632"/>
            <a:ext cx="2148840" cy="640080"/>
          </a:xfrm>
          <a:prstGeom prst="rect">
            <a:avLst/>
          </a:prstGeom>
          <a:noFill/>
        </p:spPr>
        <p:txBody>
          <a:bodyPr wrap="square" anchor="t" lIns="0" rIns="0" tIns="0" bIns="0">
            <a:spAutoFit/>
          </a:bodyPr>
          <a:lstStyle/>
          <a:p>
            <a:pPr algn="l">
              <a:spcAft>
                <a:spcPts val="400"/>
              </a:spcAft>
            </a:pPr>
            <a:r>
              <a:rPr sz="1150" b="0" i="0">
                <a:solidFill>
                  <a:srgbClr val="5B5B6E"/>
                </a:solidFill>
                <a:latin typeface="Calibri"/>
              </a:rPr>
              <a:t>p50 32 ms vs 455 ms after the user stops talking</a:t>
            </a:r>
          </a:p>
        </p:txBody>
      </p:sp>
      <p:sp>
        <p:nvSpPr>
          <p:cNvPr id="7" name="Rounded Rectangle 6"/>
          <p:cNvSpPr/>
          <p:nvPr/>
        </p:nvSpPr>
        <p:spPr>
          <a:xfrm>
            <a:off x="3493008" y="1508760"/>
            <a:ext cx="2468880" cy="192024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75887" y="1600200"/>
            <a:ext cx="2148840" cy="868680"/>
          </a:xfrm>
          <a:prstGeom prst="rect">
            <a:avLst/>
          </a:prstGeom>
          <a:noFill/>
        </p:spPr>
        <p:txBody>
          <a:bodyPr wrap="square" anchor="t" lIns="0" rIns="0" tIns="0" bIns="0">
            <a:spAutoFit/>
          </a:bodyPr>
          <a:lstStyle/>
          <a:p>
            <a:pPr algn="l">
              <a:spcAft>
                <a:spcPts val="400"/>
              </a:spcAft>
            </a:pPr>
            <a:r>
              <a:rPr sz="4000" b="1" i="0">
                <a:solidFill>
                  <a:srgbClr val="3B63D8"/>
                </a:solidFill>
                <a:latin typeface="Calibri"/>
              </a:rPr>
              <a:t>0</a:t>
            </a:r>
          </a:p>
        </p:txBody>
      </p:sp>
      <p:sp>
        <p:nvSpPr>
          <p:cNvPr id="9" name="TextBox 8"/>
          <p:cNvSpPr txBox="1"/>
          <p:nvPr/>
        </p:nvSpPr>
        <p:spPr>
          <a:xfrm>
            <a:off x="3675887" y="2450592"/>
            <a:ext cx="2148840" cy="320040"/>
          </a:xfrm>
          <a:prstGeom prst="rect">
            <a:avLst/>
          </a:prstGeom>
          <a:noFill/>
        </p:spPr>
        <p:txBody>
          <a:bodyPr wrap="square" anchor="t" lIns="0" rIns="0" tIns="0" bIns="0">
            <a:spAutoFit/>
          </a:bodyPr>
          <a:lstStyle/>
          <a:p>
            <a:pPr algn="l">
              <a:spcAft>
                <a:spcPts val="400"/>
              </a:spcAft>
            </a:pPr>
            <a:r>
              <a:rPr sz="1400" b="1" i="0">
                <a:solidFill>
                  <a:srgbClr val="16162E"/>
                </a:solidFill>
                <a:latin typeface="Calibri"/>
              </a:rPr>
              <a:t>fabricated citations</a:t>
            </a:r>
          </a:p>
        </p:txBody>
      </p:sp>
      <p:sp>
        <p:nvSpPr>
          <p:cNvPr id="10" name="TextBox 9"/>
          <p:cNvSpPr txBox="1"/>
          <p:nvPr/>
        </p:nvSpPr>
        <p:spPr>
          <a:xfrm>
            <a:off x="3675887" y="2770632"/>
            <a:ext cx="2148840" cy="640080"/>
          </a:xfrm>
          <a:prstGeom prst="rect">
            <a:avLst/>
          </a:prstGeom>
          <a:noFill/>
        </p:spPr>
        <p:txBody>
          <a:bodyPr wrap="square" anchor="t" lIns="0" rIns="0" tIns="0" bIns="0">
            <a:spAutoFit/>
          </a:bodyPr>
          <a:lstStyle/>
          <a:p>
            <a:pPr algn="l">
              <a:spcAft>
                <a:spcPts val="400"/>
              </a:spcAft>
            </a:pPr>
            <a:r>
              <a:rPr sz="1150" b="0" i="0">
                <a:solidFill>
                  <a:srgbClr val="5B5B6E"/>
                </a:solidFill>
                <a:latin typeface="Calibri"/>
              </a:rPr>
              <a:t>structurally impossible; 0 untraceable in every run</a:t>
            </a:r>
          </a:p>
        </p:txBody>
      </p:sp>
      <p:sp>
        <p:nvSpPr>
          <p:cNvPr id="11" name="Rounded Rectangle 10"/>
          <p:cNvSpPr/>
          <p:nvPr/>
        </p:nvSpPr>
        <p:spPr>
          <a:xfrm>
            <a:off x="6144768" y="1508760"/>
            <a:ext cx="2468880" cy="192024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7648" y="1600200"/>
            <a:ext cx="2148840" cy="868680"/>
          </a:xfrm>
          <a:prstGeom prst="rect">
            <a:avLst/>
          </a:prstGeom>
          <a:noFill/>
        </p:spPr>
        <p:txBody>
          <a:bodyPr wrap="square" anchor="t" lIns="0" rIns="0" tIns="0" bIns="0">
            <a:spAutoFit/>
          </a:bodyPr>
          <a:lstStyle/>
          <a:p>
            <a:pPr algn="l">
              <a:spcAft>
                <a:spcPts val="400"/>
              </a:spcAft>
            </a:pPr>
            <a:r>
              <a:rPr sz="4000" b="1" i="0">
                <a:solidFill>
                  <a:srgbClr val="6D28D9"/>
                </a:solidFill>
                <a:latin typeface="Calibri"/>
              </a:rPr>
              <a:t>−44 %</a:t>
            </a:r>
          </a:p>
        </p:txBody>
      </p:sp>
      <p:sp>
        <p:nvSpPr>
          <p:cNvPr id="13" name="TextBox 12"/>
          <p:cNvSpPr txBox="1"/>
          <p:nvPr/>
        </p:nvSpPr>
        <p:spPr>
          <a:xfrm>
            <a:off x="6327648" y="2450592"/>
            <a:ext cx="2148840" cy="320040"/>
          </a:xfrm>
          <a:prstGeom prst="rect">
            <a:avLst/>
          </a:prstGeom>
          <a:noFill/>
        </p:spPr>
        <p:txBody>
          <a:bodyPr wrap="square" anchor="t" lIns="0" rIns="0" tIns="0" bIns="0">
            <a:spAutoFit/>
          </a:bodyPr>
          <a:lstStyle/>
          <a:p>
            <a:pPr algn="l">
              <a:spcAft>
                <a:spcPts val="400"/>
              </a:spcAft>
            </a:pPr>
            <a:r>
              <a:rPr sz="1400" b="1" i="0">
                <a:solidFill>
                  <a:srgbClr val="16162E"/>
                </a:solidFill>
                <a:latin typeface="Calibri"/>
              </a:rPr>
              <a:t>prompt tokens / turn</a:t>
            </a:r>
          </a:p>
        </p:txBody>
      </p:sp>
      <p:sp>
        <p:nvSpPr>
          <p:cNvPr id="14" name="TextBox 13"/>
          <p:cNvSpPr txBox="1"/>
          <p:nvPr/>
        </p:nvSpPr>
        <p:spPr>
          <a:xfrm>
            <a:off x="6327648" y="2770632"/>
            <a:ext cx="2148840" cy="640080"/>
          </a:xfrm>
          <a:prstGeom prst="rect">
            <a:avLst/>
          </a:prstGeom>
          <a:noFill/>
        </p:spPr>
        <p:txBody>
          <a:bodyPr wrap="square" anchor="t" lIns="0" rIns="0" tIns="0" bIns="0">
            <a:spAutoFit/>
          </a:bodyPr>
          <a:lstStyle/>
          <a:p>
            <a:pPr algn="l">
              <a:spcAft>
                <a:spcPts val="400"/>
              </a:spcAft>
            </a:pPr>
            <a:r>
              <a:rPr sz="1150" b="0" i="0">
                <a:solidFill>
                  <a:srgbClr val="5B5B6E"/>
                </a:solidFill>
                <a:latin typeface="Calibri"/>
              </a:rPr>
              <a:t>568 vs 1,017 — branches spend retrieval, not LLM calls</a:t>
            </a:r>
          </a:p>
        </p:txBody>
      </p:sp>
      <p:sp>
        <p:nvSpPr>
          <p:cNvPr id="15" name="Rounded Rectangle 14"/>
          <p:cNvSpPr/>
          <p:nvPr/>
        </p:nvSpPr>
        <p:spPr>
          <a:xfrm>
            <a:off x="8796528" y="1508760"/>
            <a:ext cx="2468880" cy="192024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979407" y="1600200"/>
            <a:ext cx="2148840" cy="868680"/>
          </a:xfrm>
          <a:prstGeom prst="rect">
            <a:avLst/>
          </a:prstGeom>
          <a:noFill/>
        </p:spPr>
        <p:txBody>
          <a:bodyPr wrap="square" anchor="t" lIns="0" rIns="0" tIns="0" bIns="0">
            <a:spAutoFit/>
          </a:bodyPr>
          <a:lstStyle/>
          <a:p>
            <a:pPr algn="l">
              <a:spcAft>
                <a:spcPts val="400"/>
              </a:spcAft>
            </a:pPr>
            <a:r>
              <a:rPr sz="4000" b="1" i="0">
                <a:solidFill>
                  <a:srgbClr val="3B63D8"/>
                </a:solidFill>
                <a:latin typeface="Calibri"/>
              </a:rPr>
              <a:t>100 %</a:t>
            </a:r>
          </a:p>
        </p:txBody>
      </p:sp>
      <p:sp>
        <p:nvSpPr>
          <p:cNvPr id="17" name="TextBox 16"/>
          <p:cNvSpPr txBox="1"/>
          <p:nvPr/>
        </p:nvSpPr>
        <p:spPr>
          <a:xfrm>
            <a:off x="8979407" y="2450592"/>
            <a:ext cx="2148840" cy="320040"/>
          </a:xfrm>
          <a:prstGeom prst="rect">
            <a:avLst/>
          </a:prstGeom>
          <a:noFill/>
        </p:spPr>
        <p:txBody>
          <a:bodyPr wrap="square" anchor="t" lIns="0" rIns="0" tIns="0" bIns="0">
            <a:spAutoFit/>
          </a:bodyPr>
          <a:lstStyle/>
          <a:p>
            <a:pPr algn="l">
              <a:spcAft>
                <a:spcPts val="400"/>
              </a:spcAft>
            </a:pPr>
            <a:r>
              <a:rPr sz="1400" b="1" i="0">
                <a:solidFill>
                  <a:srgbClr val="16162E"/>
                </a:solidFill>
                <a:latin typeface="Calibri"/>
              </a:rPr>
              <a:t>noise suppressed</a:t>
            </a:r>
          </a:p>
        </p:txBody>
      </p:sp>
      <p:sp>
        <p:nvSpPr>
          <p:cNvPr id="18" name="TextBox 17"/>
          <p:cNvSpPr txBox="1"/>
          <p:nvPr/>
        </p:nvSpPr>
        <p:spPr>
          <a:xfrm>
            <a:off x="8979407" y="2770632"/>
            <a:ext cx="2148840" cy="640080"/>
          </a:xfrm>
          <a:prstGeom prst="rect">
            <a:avLst/>
          </a:prstGeom>
          <a:noFill/>
        </p:spPr>
        <p:txBody>
          <a:bodyPr wrap="square" anchor="t" lIns="0" rIns="0" tIns="0" bIns="0">
            <a:spAutoFit/>
          </a:bodyPr>
          <a:lstStyle/>
          <a:p>
            <a:pPr algn="l">
              <a:spcAft>
                <a:spcPts val="400"/>
              </a:spcAft>
            </a:pPr>
            <a:r>
              <a:rPr sz="1150" b="0" i="0">
                <a:solidFill>
                  <a:srgbClr val="5B5B6E"/>
                </a:solidFill>
                <a:latin typeface="Calibri"/>
              </a:rPr>
              <a:t>0 retrievals on presentation-only and filler turns</a:t>
            </a:r>
          </a:p>
        </p:txBody>
      </p:sp>
      <p:sp>
        <p:nvSpPr>
          <p:cNvPr id="19" name="TextBox 18"/>
          <p:cNvSpPr txBox="1"/>
          <p:nvPr/>
        </p:nvSpPr>
        <p:spPr>
          <a:xfrm>
            <a:off x="841248" y="3657600"/>
            <a:ext cx="10424160" cy="365760"/>
          </a:xfrm>
          <a:prstGeom prst="rect">
            <a:avLst/>
          </a:prstGeom>
          <a:noFill/>
        </p:spPr>
        <p:txBody>
          <a:bodyPr wrap="square" anchor="t" lIns="0" rIns="0" tIns="0" bIns="0">
            <a:spAutoFit/>
          </a:bodyPr>
          <a:lstStyle/>
          <a:p>
            <a:pPr algn="l">
              <a:spcAft>
                <a:spcPts val="400"/>
              </a:spcAft>
            </a:pPr>
            <a:r>
              <a:rPr sz="1500" b="1" i="0">
                <a:solidFill>
                  <a:srgbClr val="6D28D9"/>
                </a:solidFill>
                <a:latin typeface="Calibri"/>
              </a:rPr>
              <a:t>Where it fits</a:t>
            </a:r>
          </a:p>
        </p:txBody>
      </p:sp>
      <p:sp>
        <p:nvSpPr>
          <p:cNvPr id="20" name="Rounded Rectangle 19"/>
          <p:cNvSpPr/>
          <p:nvPr/>
        </p:nvSpPr>
        <p:spPr>
          <a:xfrm>
            <a:off x="841248" y="4114800"/>
            <a:ext cx="5120640" cy="896112"/>
          </a:xfrm>
          <a:prstGeom prst="roundRect">
            <a:avLst>
              <a:gd name="adj" fmla="val 12000"/>
            </a:avLst>
          </a:prstGeom>
          <a:noFill/>
          <a:ln w="15875">
            <a:solidFill>
              <a:srgbClr val="D9D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24128" y="4379976"/>
            <a:ext cx="365760" cy="365760"/>
          </a:xfrm>
          <a:prstGeom prst="ellipse">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2" name="TextBox 21"/>
          <p:cNvSpPr txBox="1"/>
          <p:nvPr/>
        </p:nvSpPr>
        <p:spPr>
          <a:xfrm>
            <a:off x="1572768" y="4187952"/>
            <a:ext cx="4251960" cy="777240"/>
          </a:xfrm>
          <a:prstGeom prst="rect">
            <a:avLst/>
          </a:prstGeom>
          <a:noFill/>
        </p:spPr>
        <p:txBody>
          <a:bodyPr wrap="square" anchor="ctr" lIns="0" rIns="0" tIns="0" bIns="0">
            <a:spAutoFit/>
          </a:bodyPr>
          <a:lstStyle/>
          <a:p>
            <a:pPr algn="l">
              <a:spcAft>
                <a:spcPts val="100"/>
              </a:spcAft>
            </a:pPr>
            <a:r>
              <a:rPr sz="1350" b="1" i="0">
                <a:solidFill>
                  <a:srgbClr val="16162E"/>
                </a:solidFill>
                <a:latin typeface="Calibri"/>
              </a:rPr>
              <a:t>Voice assistants</a:t>
            </a:r>
          </a:p>
          <a:p>
            <a:pPr algn="l">
              <a:spcAft>
                <a:spcPts val="100"/>
              </a:spcAft>
            </a:pPr>
            <a:r>
              <a:rPr sz="1150" b="0" i="0">
                <a:solidFill>
                  <a:srgbClr val="5B5B6E"/>
                </a:solidFill>
                <a:latin typeface="Calibri"/>
              </a:rPr>
              <a:t>on-device / in-car assistants answer from manuals and policies while the user is mid-sentence</a:t>
            </a:r>
          </a:p>
        </p:txBody>
      </p:sp>
      <p:sp>
        <p:nvSpPr>
          <p:cNvPr id="23" name="Rounded Rectangle 22"/>
          <p:cNvSpPr/>
          <p:nvPr/>
        </p:nvSpPr>
        <p:spPr>
          <a:xfrm>
            <a:off x="6190488" y="4114800"/>
            <a:ext cx="5120640" cy="896112"/>
          </a:xfrm>
          <a:prstGeom prst="roundRect">
            <a:avLst>
              <a:gd name="adj" fmla="val 12000"/>
            </a:avLst>
          </a:prstGeom>
          <a:noFill/>
          <a:ln w="15875">
            <a:solidFill>
              <a:srgbClr val="D9D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73368" y="4379976"/>
            <a:ext cx="365760" cy="365760"/>
          </a:xfrm>
          <a:prstGeom prst="ellipse">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5" name="TextBox 24"/>
          <p:cNvSpPr txBox="1"/>
          <p:nvPr/>
        </p:nvSpPr>
        <p:spPr>
          <a:xfrm>
            <a:off x="6922007" y="4187952"/>
            <a:ext cx="4251960" cy="777240"/>
          </a:xfrm>
          <a:prstGeom prst="rect">
            <a:avLst/>
          </a:prstGeom>
          <a:noFill/>
        </p:spPr>
        <p:txBody>
          <a:bodyPr wrap="square" anchor="ctr" lIns="0" rIns="0" tIns="0" bIns="0">
            <a:spAutoFit/>
          </a:bodyPr>
          <a:lstStyle/>
          <a:p>
            <a:pPr algn="l">
              <a:spcAft>
                <a:spcPts val="100"/>
              </a:spcAft>
            </a:pPr>
            <a:r>
              <a:rPr sz="1350" b="1" i="0">
                <a:solidFill>
                  <a:srgbClr val="16162E"/>
                </a:solidFill>
                <a:latin typeface="Calibri"/>
              </a:rPr>
              <a:t>Contact-centre agent assist</a:t>
            </a:r>
          </a:p>
          <a:p>
            <a:pPr algn="l">
              <a:spcAft>
                <a:spcPts val="100"/>
              </a:spcAft>
            </a:pPr>
            <a:r>
              <a:rPr sz="1150" b="0" i="0">
                <a:solidFill>
                  <a:srgbClr val="5B5B6E"/>
                </a:solidFill>
                <a:latin typeface="Calibri"/>
              </a:rPr>
              <a:t>live call transcripts → cited policy snippets before the caller finishes</a:t>
            </a:r>
          </a:p>
        </p:txBody>
      </p:sp>
      <p:sp>
        <p:nvSpPr>
          <p:cNvPr id="26" name="Rounded Rectangle 25"/>
          <p:cNvSpPr/>
          <p:nvPr/>
        </p:nvSpPr>
        <p:spPr>
          <a:xfrm>
            <a:off x="841248" y="5138928"/>
            <a:ext cx="5120640" cy="896112"/>
          </a:xfrm>
          <a:prstGeom prst="roundRect">
            <a:avLst>
              <a:gd name="adj" fmla="val 12000"/>
            </a:avLst>
          </a:prstGeom>
          <a:noFill/>
          <a:ln w="15875">
            <a:solidFill>
              <a:srgbClr val="D9D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024128" y="5404104"/>
            <a:ext cx="365760" cy="365760"/>
          </a:xfrm>
          <a:prstGeom prst="ellipse">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8" name="TextBox 27"/>
          <p:cNvSpPr txBox="1"/>
          <p:nvPr/>
        </p:nvSpPr>
        <p:spPr>
          <a:xfrm>
            <a:off x="1572768" y="5212080"/>
            <a:ext cx="4251960" cy="777240"/>
          </a:xfrm>
          <a:prstGeom prst="rect">
            <a:avLst/>
          </a:prstGeom>
          <a:noFill/>
        </p:spPr>
        <p:txBody>
          <a:bodyPr wrap="square" anchor="ctr" lIns="0" rIns="0" tIns="0" bIns="0">
            <a:spAutoFit/>
          </a:bodyPr>
          <a:lstStyle/>
          <a:p>
            <a:pPr algn="l">
              <a:spcAft>
                <a:spcPts val="100"/>
              </a:spcAft>
            </a:pPr>
            <a:r>
              <a:rPr sz="1350" b="1" i="0">
                <a:solidFill>
                  <a:srgbClr val="16162E"/>
                </a:solidFill>
                <a:latin typeface="Calibri"/>
              </a:rPr>
              <a:t>Enterprise help desks</a:t>
            </a:r>
          </a:p>
          <a:p>
            <a:pPr algn="l">
              <a:spcAft>
                <a:spcPts val="100"/>
              </a:spcAft>
            </a:pPr>
            <a:r>
              <a:rPr sz="1150" b="0" i="0">
                <a:solidFill>
                  <a:srgbClr val="5B5B6E"/>
                </a:solidFill>
                <a:latin typeface="Calibri"/>
              </a:rPr>
              <a:t>HR, travel &amp; IT policy Q&amp;A where every answer must carry a verifiable source</a:t>
            </a:r>
          </a:p>
        </p:txBody>
      </p:sp>
      <p:sp>
        <p:nvSpPr>
          <p:cNvPr id="29" name="Rounded Rectangle 28"/>
          <p:cNvSpPr/>
          <p:nvPr/>
        </p:nvSpPr>
        <p:spPr>
          <a:xfrm>
            <a:off x="6190488" y="5138928"/>
            <a:ext cx="5120640" cy="896112"/>
          </a:xfrm>
          <a:prstGeom prst="roundRect">
            <a:avLst>
              <a:gd name="adj" fmla="val 12000"/>
            </a:avLst>
          </a:prstGeom>
          <a:noFill/>
          <a:ln w="15875">
            <a:solidFill>
              <a:srgbClr val="D9D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373368" y="5404104"/>
            <a:ext cx="365760" cy="365760"/>
          </a:xfrm>
          <a:prstGeom prst="ellipse">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31" name="TextBox 30"/>
          <p:cNvSpPr txBox="1"/>
          <p:nvPr/>
        </p:nvSpPr>
        <p:spPr>
          <a:xfrm>
            <a:off x="6922007" y="5212080"/>
            <a:ext cx="4251960" cy="777240"/>
          </a:xfrm>
          <a:prstGeom prst="rect">
            <a:avLst/>
          </a:prstGeom>
          <a:noFill/>
        </p:spPr>
        <p:txBody>
          <a:bodyPr wrap="square" anchor="ctr" lIns="0" rIns="0" tIns="0" bIns="0">
            <a:spAutoFit/>
          </a:bodyPr>
          <a:lstStyle/>
          <a:p>
            <a:pPr algn="l">
              <a:spcAft>
                <a:spcPts val="100"/>
              </a:spcAft>
            </a:pPr>
            <a:r>
              <a:rPr sz="1350" b="1" i="0">
                <a:solidFill>
                  <a:srgbClr val="16162E"/>
                </a:solidFill>
                <a:latin typeface="Calibri"/>
              </a:rPr>
              <a:t>Field &amp; device support</a:t>
            </a:r>
          </a:p>
          <a:p>
            <a:pPr algn="l">
              <a:spcAft>
                <a:spcPts val="100"/>
              </a:spcAft>
            </a:pPr>
            <a:r>
              <a:rPr sz="1150" b="0" i="0">
                <a:solidFill>
                  <a:srgbClr val="5B5B6E"/>
                </a:solidFill>
                <a:latin typeface="Calibri"/>
              </a:rPr>
              <a:t>“the TV shows no picture” → grounded troubleshooting steps, no hallucinated fixes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graphicFrame>
        <p:nvGraphicFramePr>
          <p:cNvPr id="3" name="Chart 2"/>
          <p:cNvGraphicFramePr>
            <a:graphicFrameLocks noGrp="1"/>
          </p:cNvGraphicFramePr>
          <p:nvPr/>
        </p:nvGraphicFramePr>
        <p:xfrm>
          <a:off x="731520" y="1463040"/>
          <a:ext cx="6035040" cy="393192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5852160" cy="685800"/>
          </a:xfrm>
          <a:prstGeom prst="rect">
            <a:avLst/>
          </a:prstGeom>
          <a:noFill/>
        </p:spPr>
        <p:txBody>
          <a:bodyPr wrap="square" anchor="t" lIns="0" rIns="0" tIns="0" bIns="0">
            <a:spAutoFit/>
          </a:bodyPr>
          <a:lstStyle/>
          <a:p>
            <a:pPr algn="l">
              <a:spcAft>
                <a:spcPts val="400"/>
              </a:spcAft>
            </a:pPr>
            <a:r>
              <a:rPr sz="1150" b="1" i="0">
                <a:solidFill>
                  <a:srgbClr val="16162E"/>
                </a:solidFill>
                <a:latin typeface="Calibri"/>
              </a:rPr>
              <a:t>All gates met on the test split: </a:t>
            </a:r>
            <a:r>
              <a:rPr sz="1150" b="0" i="0">
                <a:solidFill>
                  <a:srgbClr val="5B5B6E"/>
                </a:solidFill>
                <a:latin typeface="Calibri"/>
              </a:rPr>
              <a:t>G2 ≥ 80 %, G3 ≥ 70 %, G4 ≥ 85 % with 0 fabricated IDs, G6 100 % traced. Thresholds were set on a separate dev split.</a:t>
            </a:r>
          </a:p>
        </p:txBody>
      </p:sp>
      <p:sp>
        <p:nvSpPr>
          <p:cNvPr id="5" name="Rounded Rectangle 4"/>
          <p:cNvSpPr/>
          <p:nvPr/>
        </p:nvSpPr>
        <p:spPr>
          <a:xfrm>
            <a:off x="7040880" y="1508760"/>
            <a:ext cx="4251960" cy="210312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242048" y="1600200"/>
            <a:ext cx="3931920" cy="365760"/>
          </a:xfrm>
          <a:prstGeom prst="rect">
            <a:avLst/>
          </a:prstGeom>
          <a:noFill/>
        </p:spPr>
        <p:txBody>
          <a:bodyPr wrap="square" anchor="t" lIns="0" rIns="0" tIns="0" bIns="0">
            <a:spAutoFit/>
          </a:bodyPr>
          <a:lstStyle/>
          <a:p>
            <a:pPr algn="l">
              <a:spcAft>
                <a:spcPts val="400"/>
              </a:spcAft>
            </a:pPr>
            <a:r>
              <a:rPr sz="1450" b="1" i="0">
                <a:solidFill>
                  <a:srgbClr val="6D28D9"/>
                </a:solidFill>
                <a:latin typeface="Calibri"/>
              </a:rPr>
              <a:t>Innovation highlights</a:t>
            </a:r>
          </a:p>
        </p:txBody>
      </p:sp>
      <p:sp>
        <p:nvSpPr>
          <p:cNvPr id="7" name="TextBox 6"/>
          <p:cNvSpPr txBox="1"/>
          <p:nvPr/>
        </p:nvSpPr>
        <p:spPr>
          <a:xfrm>
            <a:off x="7242048" y="1984248"/>
            <a:ext cx="3931920" cy="1600200"/>
          </a:xfrm>
          <a:prstGeom prst="rect">
            <a:avLst/>
          </a:prstGeom>
          <a:noFill/>
        </p:spPr>
        <p:txBody>
          <a:bodyPr wrap="square" anchor="t" lIns="0" rIns="0" tIns="0" bIns="0">
            <a:spAutoFit/>
          </a:bodyPr>
          <a:lstStyle/>
          <a:p>
            <a:pPr algn="l" marL="201168" indent="-182880">
              <a:spcAft>
                <a:spcPts val="300"/>
              </a:spcAft>
              <a:buClr>
                <a:srgbClr val="6D28D9"/>
              </a:buClr>
              <a:buChar char="•"/>
            </a:pPr>
            <a:r>
              <a:rPr sz="1150" b="0" i="0">
                <a:solidFill>
                  <a:srgbClr val="16162E"/>
                </a:solidFill>
                <a:latin typeface="Calibri"/>
              </a:rPr>
              <a:t>Speculative multi-branch retrieval seeded by corpus clusters, pruned for free</a:t>
            </a:r>
          </a:p>
          <a:p>
            <a:pPr algn="l" marL="201168" indent="-182880">
              <a:spcAft>
                <a:spcPts val="300"/>
              </a:spcAft>
              <a:buClr>
                <a:srgbClr val="6D28D9"/>
              </a:buClr>
              <a:buChar char="•"/>
            </a:pPr>
            <a:r>
              <a:rPr sz="1150" b="0" i="0">
                <a:solidFill>
                  <a:srgbClr val="16162E"/>
                </a:solidFill>
                <a:latin typeface="Calibri"/>
              </a:rPr>
              <a:t>One encoder + one cluster index + one verifier doing four jobs</a:t>
            </a:r>
          </a:p>
          <a:p>
            <a:pPr algn="l" marL="201168" indent="-182880">
              <a:spcAft>
                <a:spcPts val="300"/>
              </a:spcAft>
              <a:buClr>
                <a:srgbClr val="6D28D9"/>
              </a:buClr>
              <a:buChar char="•"/>
            </a:pPr>
            <a:r>
              <a:rPr sz="1150" b="0" i="0">
                <a:solidFill>
                  <a:srgbClr val="16162E"/>
                </a:solidFill>
                <a:latin typeface="Calibri"/>
              </a:rPr>
              <a:t>Fabricated Doc IDs impossible by construction (closed indices)</a:t>
            </a:r>
          </a:p>
          <a:p>
            <a:pPr algn="l" marL="201168" indent="-182880">
              <a:spcAft>
                <a:spcPts val="300"/>
              </a:spcAft>
              <a:buClr>
                <a:srgbClr val="6D28D9"/>
              </a:buClr>
              <a:buChar char="•"/>
            </a:pPr>
            <a:r>
              <a:rPr sz="1150" b="0" i="0">
                <a:solidFill>
                  <a:srgbClr val="16162E"/>
                </a:solidFill>
                <a:latin typeface="Calibri"/>
              </a:rPr>
              <a:t>Claim-level patching with version lineage; early re-verify on slot change</a:t>
            </a:r>
          </a:p>
        </p:txBody>
      </p:sp>
      <p:sp>
        <p:nvSpPr>
          <p:cNvPr id="8" name="Rounded Rectangle 7"/>
          <p:cNvSpPr/>
          <p:nvPr/>
        </p:nvSpPr>
        <p:spPr>
          <a:xfrm>
            <a:off x="7040880" y="3749039"/>
            <a:ext cx="4251960" cy="24231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242048" y="3840480"/>
            <a:ext cx="3931920" cy="365760"/>
          </a:xfrm>
          <a:prstGeom prst="rect">
            <a:avLst/>
          </a:prstGeom>
          <a:noFill/>
        </p:spPr>
        <p:txBody>
          <a:bodyPr wrap="square" anchor="t" lIns="0" rIns="0" tIns="0" bIns="0">
            <a:spAutoFit/>
          </a:bodyPr>
          <a:lstStyle/>
          <a:p>
            <a:pPr algn="l">
              <a:spcAft>
                <a:spcPts val="400"/>
              </a:spcAft>
            </a:pPr>
            <a:r>
              <a:rPr sz="1450" b="1" i="0">
                <a:solidFill>
                  <a:srgbClr val="B45F06"/>
                </a:solidFill>
                <a:latin typeface="Calibri"/>
              </a:rPr>
              <a:t>Honest limitations</a:t>
            </a:r>
          </a:p>
        </p:txBody>
      </p:sp>
      <p:sp>
        <p:nvSpPr>
          <p:cNvPr id="10" name="TextBox 9"/>
          <p:cNvSpPr txBox="1"/>
          <p:nvPr/>
        </p:nvSpPr>
        <p:spPr>
          <a:xfrm>
            <a:off x="7242048" y="4224528"/>
            <a:ext cx="3931920" cy="1920240"/>
          </a:xfrm>
          <a:prstGeom prst="rect">
            <a:avLst/>
          </a:prstGeom>
          <a:noFill/>
        </p:spPr>
        <p:txBody>
          <a:bodyPr wrap="square" anchor="t" lIns="0" rIns="0" tIns="0" bIns="0">
            <a:spAutoFit/>
          </a:bodyPr>
          <a:lstStyle/>
          <a:p>
            <a:pPr algn="l" marL="201168" indent="-182880">
              <a:spcAft>
                <a:spcPts val="300"/>
              </a:spcAft>
              <a:buClr>
                <a:srgbClr val="6D28D9"/>
              </a:buClr>
              <a:buChar char="•"/>
            </a:pPr>
            <a:r>
              <a:rPr sz="1150" b="0" i="0">
                <a:solidFill>
                  <a:srgbClr val="16162E"/>
                </a:solidFill>
                <a:latin typeface="Calibri"/>
              </a:rPr>
              <a:t>Implicit dependencies (“client provides lunch” → per diem) can read as a topic shift (G5 3/4)</a:t>
            </a:r>
          </a:p>
          <a:p>
            <a:pPr algn="l" marL="201168" indent="-182880">
              <a:spcAft>
                <a:spcPts val="300"/>
              </a:spcAft>
              <a:buClr>
                <a:srgbClr val="6D28D9"/>
              </a:buClr>
              <a:buChar char="•"/>
            </a:pPr>
            <a:r>
              <a:rPr sz="1150" b="0" i="0">
                <a:solidFill>
                  <a:srgbClr val="16162E"/>
                </a:solidFill>
                <a:latin typeface="Calibri"/>
              </a:rPr>
              <a:t>One rule spanning two topics can be over-split (11 % of single-intent turns)</a:t>
            </a:r>
          </a:p>
          <a:p>
            <a:pPr algn="l" marL="201168" indent="-182880">
              <a:spcAft>
                <a:spcPts val="300"/>
              </a:spcAft>
              <a:buClr>
                <a:srgbClr val="6D28D9"/>
              </a:buClr>
              <a:buChar char="•"/>
            </a:pPr>
            <a:r>
              <a:rPr sz="1150" b="0" i="0">
                <a:solidFill>
                  <a:srgbClr val="16162E"/>
                </a:solidFill>
                <a:latin typeface="Calibri"/>
              </a:rPr>
              <a:t>Extractive default can’t paraphrase or translate — a hosted LLM plugs in behind the same verifier</a:t>
            </a:r>
          </a:p>
          <a:p>
            <a:pPr algn="l" marL="201168" indent="-182880">
              <a:spcAft>
                <a:spcPts val="300"/>
              </a:spcAft>
              <a:buClr>
                <a:srgbClr val="6D28D9"/>
              </a:buClr>
              <a:buChar char="•"/>
            </a:pPr>
            <a:r>
              <a:rPr sz="1150" b="0" i="0">
                <a:solidFill>
                  <a:srgbClr val="16162E"/>
                </a:solidFill>
                <a:latin typeface="Calibri"/>
              </a:rPr>
              <a:t>Small, synthetic evaluation set; latency varies by machine</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Rounded Rectangle 2"/>
          <p:cNvSpPr/>
          <p:nvPr/>
        </p:nvSpPr>
        <p:spPr>
          <a:xfrm>
            <a:off x="841248" y="1508760"/>
            <a:ext cx="3364992" cy="548640"/>
          </a:xfrm>
          <a:prstGeom prst="roundRect">
            <a:avLst>
              <a:gd name="adj" fmla="val 12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69848" y="1508760"/>
            <a:ext cx="2926080" cy="548640"/>
          </a:xfrm>
          <a:prstGeom prst="rect">
            <a:avLst/>
          </a:prstGeom>
          <a:noFill/>
        </p:spPr>
        <p:txBody>
          <a:bodyPr wrap="square" anchor="ctr" lIns="0" rIns="0" tIns="0" bIns="0">
            <a:spAutoFit/>
          </a:bodyPr>
          <a:lstStyle/>
          <a:p>
            <a:pPr algn="l">
              <a:spcAft>
                <a:spcPts val="400"/>
              </a:spcAft>
            </a:pPr>
            <a:r>
              <a:rPr sz="1700" b="1" i="0">
                <a:solidFill>
                  <a:srgbClr val="FFFFFF"/>
                </a:solidFill>
                <a:latin typeface="Calibri"/>
              </a:rPr>
              <a:t>Now</a:t>
            </a:r>
          </a:p>
        </p:txBody>
      </p:sp>
      <p:sp>
        <p:nvSpPr>
          <p:cNvPr id="5" name="Rounded Rectangle 4"/>
          <p:cNvSpPr/>
          <p:nvPr/>
        </p:nvSpPr>
        <p:spPr>
          <a:xfrm>
            <a:off x="841248" y="2286000"/>
            <a:ext cx="3364992" cy="15544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9848" y="2468880"/>
            <a:ext cx="2926080" cy="640080"/>
          </a:xfrm>
          <a:prstGeom prst="rect">
            <a:avLst/>
          </a:prstGeom>
          <a:noFill/>
        </p:spPr>
        <p:txBody>
          <a:bodyPr wrap="square" anchor="t" lIns="0" rIns="0" tIns="0" bIns="0">
            <a:spAutoFit/>
          </a:bodyPr>
          <a:lstStyle/>
          <a:p>
            <a:pPr algn="l">
              <a:spcAft>
                <a:spcPts val="400"/>
              </a:spcAft>
            </a:pPr>
            <a:r>
              <a:rPr sz="1500" b="1" i="0">
                <a:solidFill>
                  <a:srgbClr val="6D28D9"/>
                </a:solidFill>
                <a:latin typeface="Calibri"/>
              </a:rPr>
              <a:t>Evidence fusion before synthesis</a:t>
            </a:r>
          </a:p>
        </p:txBody>
      </p:sp>
      <p:sp>
        <p:nvSpPr>
          <p:cNvPr id="7" name="TextBox 6"/>
          <p:cNvSpPr txBox="1"/>
          <p:nvPr/>
        </p:nvSpPr>
        <p:spPr>
          <a:xfrm>
            <a:off x="1069848" y="2852928"/>
            <a:ext cx="2926080" cy="1005840"/>
          </a:xfrm>
          <a:prstGeom prst="rect">
            <a:avLst/>
          </a:prstGeom>
          <a:noFill/>
        </p:spPr>
        <p:txBody>
          <a:bodyPr wrap="square" anchor="t" lIns="0" rIns="0" tIns="0" bIns="0">
            <a:spAutoFit/>
          </a:bodyPr>
          <a:lstStyle/>
          <a:p>
            <a:pPr algn="l">
              <a:spcAft>
                <a:spcPts val="400"/>
              </a:spcAft>
            </a:pPr>
            <a:r>
              <a:rPr sz="1250" b="0" i="0">
                <a:solidFill>
                  <a:srgbClr val="16162E"/>
                </a:solidFill>
                <a:latin typeface="Calibri"/>
              </a:rPr>
              <a:t>merge sub-queries whose top chunk grounds both (fixes over-split)</a:t>
            </a:r>
          </a:p>
        </p:txBody>
      </p:sp>
      <p:sp>
        <p:nvSpPr>
          <p:cNvPr id="8" name="Rounded Rectangle 7"/>
          <p:cNvSpPr/>
          <p:nvPr/>
        </p:nvSpPr>
        <p:spPr>
          <a:xfrm>
            <a:off x="841248" y="4069080"/>
            <a:ext cx="3364992" cy="155448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4251960"/>
            <a:ext cx="2926080" cy="640080"/>
          </a:xfrm>
          <a:prstGeom prst="rect">
            <a:avLst/>
          </a:prstGeom>
          <a:noFill/>
        </p:spPr>
        <p:txBody>
          <a:bodyPr wrap="square" anchor="t" lIns="0" rIns="0" tIns="0" bIns="0">
            <a:spAutoFit/>
          </a:bodyPr>
          <a:lstStyle/>
          <a:p>
            <a:pPr algn="l">
              <a:spcAft>
                <a:spcPts val="400"/>
              </a:spcAft>
            </a:pPr>
            <a:r>
              <a:rPr sz="1500" b="1" i="0">
                <a:solidFill>
                  <a:srgbClr val="6D28D9"/>
                </a:solidFill>
                <a:latin typeface="Calibri"/>
              </a:rPr>
              <a:t>Scoped re-check before topic shift</a:t>
            </a:r>
          </a:p>
        </p:txBody>
      </p:sp>
      <p:sp>
        <p:nvSpPr>
          <p:cNvPr id="10" name="TextBox 9"/>
          <p:cNvSpPr txBox="1"/>
          <p:nvPr/>
        </p:nvSpPr>
        <p:spPr>
          <a:xfrm>
            <a:off x="1069848" y="4636008"/>
            <a:ext cx="2926080" cy="1005840"/>
          </a:xfrm>
          <a:prstGeom prst="rect">
            <a:avLst/>
          </a:prstGeom>
          <a:noFill/>
        </p:spPr>
        <p:txBody>
          <a:bodyPr wrap="square" anchor="t" lIns="0" rIns="0" tIns="0" bIns="0">
            <a:spAutoFit/>
          </a:bodyPr>
          <a:lstStyle/>
          <a:p>
            <a:pPr algn="l">
              <a:spcAft>
                <a:spcPts val="400"/>
              </a:spcAft>
            </a:pPr>
            <a:r>
              <a:rPr sz="1250" b="0" i="0">
                <a:solidFill>
                  <a:srgbClr val="16162E"/>
                </a:solidFill>
                <a:latin typeface="Calibri"/>
              </a:rPr>
              <a:t>one search inside the claim graph catches implicit dependencies</a:t>
            </a:r>
          </a:p>
        </p:txBody>
      </p:sp>
      <p:sp>
        <p:nvSpPr>
          <p:cNvPr id="11" name="Rounded Rectangle 10"/>
          <p:cNvSpPr/>
          <p:nvPr/>
        </p:nvSpPr>
        <p:spPr>
          <a:xfrm>
            <a:off x="4379976" y="1508760"/>
            <a:ext cx="3364992" cy="548640"/>
          </a:xfrm>
          <a:prstGeom prst="roundRect">
            <a:avLst>
              <a:gd name="adj" fmla="val 12000"/>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08576" y="1508760"/>
            <a:ext cx="2926080" cy="548640"/>
          </a:xfrm>
          <a:prstGeom prst="rect">
            <a:avLst/>
          </a:prstGeom>
          <a:noFill/>
        </p:spPr>
        <p:txBody>
          <a:bodyPr wrap="square" anchor="ctr" lIns="0" rIns="0" tIns="0" bIns="0">
            <a:spAutoFit/>
          </a:bodyPr>
          <a:lstStyle/>
          <a:p>
            <a:pPr algn="l">
              <a:spcAft>
                <a:spcPts val="400"/>
              </a:spcAft>
            </a:pPr>
            <a:r>
              <a:rPr sz="1700" b="1" i="0">
                <a:solidFill>
                  <a:srgbClr val="FFFFFF"/>
                </a:solidFill>
                <a:latin typeface="Calibri"/>
              </a:rPr>
              <a:t>Next</a:t>
            </a:r>
          </a:p>
        </p:txBody>
      </p:sp>
      <p:sp>
        <p:nvSpPr>
          <p:cNvPr id="13" name="Rounded Rectangle 12"/>
          <p:cNvSpPr/>
          <p:nvPr/>
        </p:nvSpPr>
        <p:spPr>
          <a:xfrm>
            <a:off x="4379976" y="2286000"/>
            <a:ext cx="3364992" cy="15544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08576" y="2468880"/>
            <a:ext cx="2926080" cy="640080"/>
          </a:xfrm>
          <a:prstGeom prst="rect">
            <a:avLst/>
          </a:prstGeom>
          <a:noFill/>
        </p:spPr>
        <p:txBody>
          <a:bodyPr wrap="square" anchor="t" lIns="0" rIns="0" tIns="0" bIns="0">
            <a:spAutoFit/>
          </a:bodyPr>
          <a:lstStyle/>
          <a:p>
            <a:pPr algn="l">
              <a:spcAft>
                <a:spcPts val="400"/>
              </a:spcAft>
            </a:pPr>
            <a:r>
              <a:rPr sz="1500" b="1" i="0">
                <a:solidFill>
                  <a:srgbClr val="3B63D8"/>
                </a:solidFill>
                <a:latin typeface="Calibri"/>
              </a:rPr>
              <a:t>Real ASR input</a:t>
            </a:r>
          </a:p>
        </p:txBody>
      </p:sp>
      <p:sp>
        <p:nvSpPr>
          <p:cNvPr id="15" name="TextBox 14"/>
          <p:cNvSpPr txBox="1"/>
          <p:nvPr/>
        </p:nvSpPr>
        <p:spPr>
          <a:xfrm>
            <a:off x="4608576" y="2852928"/>
            <a:ext cx="2926080" cy="1005840"/>
          </a:xfrm>
          <a:prstGeom prst="rect">
            <a:avLst/>
          </a:prstGeom>
          <a:noFill/>
        </p:spPr>
        <p:txBody>
          <a:bodyPr wrap="square" anchor="t" lIns="0" rIns="0" tIns="0" bIns="0">
            <a:spAutoFit/>
          </a:bodyPr>
          <a:lstStyle/>
          <a:p>
            <a:pPr algn="l">
              <a:spcAft>
                <a:spcPts val="400"/>
              </a:spcAft>
            </a:pPr>
            <a:r>
              <a:rPr sz="1250" b="0" i="0">
                <a:solidFill>
                  <a:srgbClr val="16162E"/>
                </a:solidFill>
                <a:latin typeface="Calibri"/>
              </a:rPr>
              <a:t>stream partial hypotheses from an on-device recogniser, with revision handling</a:t>
            </a:r>
          </a:p>
        </p:txBody>
      </p:sp>
      <p:sp>
        <p:nvSpPr>
          <p:cNvPr id="16" name="Rounded Rectangle 15"/>
          <p:cNvSpPr/>
          <p:nvPr/>
        </p:nvSpPr>
        <p:spPr>
          <a:xfrm>
            <a:off x="4379976" y="4069080"/>
            <a:ext cx="3364992" cy="155448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8576" y="4251960"/>
            <a:ext cx="2926080" cy="640080"/>
          </a:xfrm>
          <a:prstGeom prst="rect">
            <a:avLst/>
          </a:prstGeom>
          <a:noFill/>
        </p:spPr>
        <p:txBody>
          <a:bodyPr wrap="square" anchor="t" lIns="0" rIns="0" tIns="0" bIns="0">
            <a:spAutoFit/>
          </a:bodyPr>
          <a:lstStyle/>
          <a:p>
            <a:pPr algn="l">
              <a:spcAft>
                <a:spcPts val="400"/>
              </a:spcAft>
            </a:pPr>
            <a:r>
              <a:rPr sz="1500" b="1" i="0">
                <a:solidFill>
                  <a:srgbClr val="3B63D8"/>
                </a:solidFill>
                <a:latin typeface="Calibri"/>
              </a:rPr>
              <a:t>Hosted-LLM evaluation</a:t>
            </a:r>
          </a:p>
        </p:txBody>
      </p:sp>
      <p:sp>
        <p:nvSpPr>
          <p:cNvPr id="18" name="TextBox 17"/>
          <p:cNvSpPr txBox="1"/>
          <p:nvPr/>
        </p:nvSpPr>
        <p:spPr>
          <a:xfrm>
            <a:off x="4608576" y="4636008"/>
            <a:ext cx="2926080" cy="1005840"/>
          </a:xfrm>
          <a:prstGeom prst="rect">
            <a:avLst/>
          </a:prstGeom>
          <a:noFill/>
        </p:spPr>
        <p:txBody>
          <a:bodyPr wrap="square" anchor="t" lIns="0" rIns="0" tIns="0" bIns="0">
            <a:spAutoFit/>
          </a:bodyPr>
          <a:lstStyle/>
          <a:p>
            <a:pPr algn="l">
              <a:spcAft>
                <a:spcPts val="400"/>
              </a:spcAft>
            </a:pPr>
            <a:r>
              <a:rPr sz="1250" b="0" i="0">
                <a:solidFill>
                  <a:srgbClr val="16162E"/>
                </a:solidFill>
                <a:latin typeface="Calibri"/>
              </a:rPr>
              <a:t>Gemini / Llama behind the same closed-index verifier; measure paraphrase gains</a:t>
            </a:r>
          </a:p>
        </p:txBody>
      </p:sp>
      <p:sp>
        <p:nvSpPr>
          <p:cNvPr id="19" name="Rounded Rectangle 18"/>
          <p:cNvSpPr/>
          <p:nvPr/>
        </p:nvSpPr>
        <p:spPr>
          <a:xfrm>
            <a:off x="7918704" y="1508760"/>
            <a:ext cx="3364992" cy="548640"/>
          </a:xfrm>
          <a:prstGeom prst="roundRect">
            <a:avLst>
              <a:gd name="adj" fmla="val 12000"/>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508760"/>
            <a:ext cx="2926080" cy="548640"/>
          </a:xfrm>
          <a:prstGeom prst="rect">
            <a:avLst/>
          </a:prstGeom>
          <a:noFill/>
        </p:spPr>
        <p:txBody>
          <a:bodyPr wrap="square" anchor="ctr" lIns="0" rIns="0" tIns="0" bIns="0">
            <a:spAutoFit/>
          </a:bodyPr>
          <a:lstStyle/>
          <a:p>
            <a:pPr algn="l">
              <a:spcAft>
                <a:spcPts val="400"/>
              </a:spcAft>
            </a:pPr>
            <a:r>
              <a:rPr sz="1700" b="1" i="0">
                <a:solidFill>
                  <a:srgbClr val="FFFFFF"/>
                </a:solidFill>
                <a:latin typeface="Calibri"/>
              </a:rPr>
              <a:t>Later</a:t>
            </a:r>
          </a:p>
        </p:txBody>
      </p:sp>
      <p:sp>
        <p:nvSpPr>
          <p:cNvPr id="21" name="Rounded Rectangle 20"/>
          <p:cNvSpPr/>
          <p:nvPr/>
        </p:nvSpPr>
        <p:spPr>
          <a:xfrm>
            <a:off x="7918704" y="2286000"/>
            <a:ext cx="3364992" cy="1554480"/>
          </a:xfrm>
          <a:prstGeom prst="roundRect">
            <a:avLst>
              <a:gd name="adj" fmla="val 12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47304" y="2468880"/>
            <a:ext cx="2926080" cy="640080"/>
          </a:xfrm>
          <a:prstGeom prst="rect">
            <a:avLst/>
          </a:prstGeom>
          <a:noFill/>
        </p:spPr>
        <p:txBody>
          <a:bodyPr wrap="square" anchor="t" lIns="0" rIns="0" tIns="0" bIns="0">
            <a:spAutoFit/>
          </a:bodyPr>
          <a:lstStyle/>
          <a:p>
            <a:pPr algn="l">
              <a:spcAft>
                <a:spcPts val="400"/>
              </a:spcAft>
            </a:pPr>
            <a:r>
              <a:rPr sz="1500" b="1" i="0">
                <a:solidFill>
                  <a:srgbClr val="2E9E8F"/>
                </a:solidFill>
                <a:latin typeface="Calibri"/>
              </a:rPr>
              <a:t>Multilingual &amp; code-mixed speech</a:t>
            </a:r>
          </a:p>
        </p:txBody>
      </p:sp>
      <p:sp>
        <p:nvSpPr>
          <p:cNvPr id="23" name="TextBox 22"/>
          <p:cNvSpPr txBox="1"/>
          <p:nvPr/>
        </p:nvSpPr>
        <p:spPr>
          <a:xfrm>
            <a:off x="8147304" y="2852928"/>
            <a:ext cx="2926080" cy="1005840"/>
          </a:xfrm>
          <a:prstGeom prst="rect">
            <a:avLst/>
          </a:prstGeom>
          <a:noFill/>
        </p:spPr>
        <p:txBody>
          <a:bodyPr wrap="square" anchor="t" lIns="0" rIns="0" tIns="0" bIns="0">
            <a:spAutoFit/>
          </a:bodyPr>
          <a:lstStyle/>
          <a:p>
            <a:pPr algn="l">
              <a:spcAft>
                <a:spcPts val="400"/>
              </a:spcAft>
            </a:pPr>
            <a:r>
              <a:rPr sz="1250" b="0" i="0">
                <a:solidFill>
                  <a:srgbClr val="16162E"/>
                </a:solidFill>
                <a:latin typeface="Calibri"/>
              </a:rPr>
              <a:t>Hindi / Hinglish encoder and NLI for Indian-language assistants</a:t>
            </a:r>
          </a:p>
        </p:txBody>
      </p:sp>
      <p:sp>
        <p:nvSpPr>
          <p:cNvPr id="24" name="Rounded Rectangle 23"/>
          <p:cNvSpPr/>
          <p:nvPr/>
        </p:nvSpPr>
        <p:spPr>
          <a:xfrm>
            <a:off x="7918704" y="4069080"/>
            <a:ext cx="3364992" cy="1554480"/>
          </a:xfrm>
          <a:prstGeom prst="roundRect">
            <a:avLst>
              <a:gd name="adj" fmla="val 12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47304" y="4251960"/>
            <a:ext cx="2926080" cy="640080"/>
          </a:xfrm>
          <a:prstGeom prst="rect">
            <a:avLst/>
          </a:prstGeom>
          <a:noFill/>
        </p:spPr>
        <p:txBody>
          <a:bodyPr wrap="square" anchor="t" lIns="0" rIns="0" tIns="0" bIns="0">
            <a:spAutoFit/>
          </a:bodyPr>
          <a:lstStyle/>
          <a:p>
            <a:pPr algn="l">
              <a:spcAft>
                <a:spcPts val="400"/>
              </a:spcAft>
            </a:pPr>
            <a:r>
              <a:rPr sz="1500" b="1" i="0">
                <a:solidFill>
                  <a:srgbClr val="2E9E8F"/>
                </a:solidFill>
                <a:latin typeface="Calibri"/>
              </a:rPr>
              <a:t>Learned controller</a:t>
            </a:r>
          </a:p>
        </p:txBody>
      </p:sp>
      <p:sp>
        <p:nvSpPr>
          <p:cNvPr id="26" name="TextBox 25"/>
          <p:cNvSpPr txBox="1"/>
          <p:nvPr/>
        </p:nvSpPr>
        <p:spPr>
          <a:xfrm>
            <a:off x="8147304" y="4636008"/>
            <a:ext cx="2926080" cy="1005840"/>
          </a:xfrm>
          <a:prstGeom prst="rect">
            <a:avLst/>
          </a:prstGeom>
          <a:noFill/>
        </p:spPr>
        <p:txBody>
          <a:bodyPr wrap="square" anchor="t" lIns="0" rIns="0" tIns="0" bIns="0">
            <a:spAutoFit/>
          </a:bodyPr>
          <a:lstStyle/>
          <a:p>
            <a:pPr algn="l">
              <a:spcAft>
                <a:spcPts val="400"/>
              </a:spcAft>
            </a:pPr>
            <a:r>
              <a:rPr sz="1250" b="0" i="0">
                <a:solidFill>
                  <a:srgbClr val="16162E"/>
                </a:solidFill>
                <a:latin typeface="Calibri"/>
              </a:rPr>
              <a:t>train the wait / fork decision on logged traces — same features, no new model at runtime</a:t>
            </a:r>
          </a:p>
        </p:txBody>
      </p:sp>
      <p:cxnSp>
        <p:nvCxnSpPr>
          <p:cNvPr id="27" name="Connector 26"/>
          <p:cNvCxnSpPr/>
          <p:nvPr/>
        </p:nvCxnSpPr>
        <p:spPr>
          <a:xfrm>
            <a:off x="4224528" y="1783080"/>
            <a:ext cx="137160" cy="0"/>
          </a:xfrm>
          <a:prstGeom prst="line">
            <a:avLst/>
          </a:prstGeom>
          <a:ln w="19050">
            <a:solidFill>
              <a:srgbClr val="5B5B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63256" y="1783080"/>
            <a:ext cx="137160" cy="0"/>
          </a:xfrm>
          <a:prstGeom prst="line">
            <a:avLst/>
          </a:prstGeom>
          <a:ln w="19050">
            <a:solidFill>
              <a:srgbClr val="5B5B6E"/>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841248" y="1508760"/>
            <a:ext cx="5120640" cy="137160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69848" y="1737360"/>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755648" y="1709928"/>
            <a:ext cx="4023360" cy="41148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Retrieval before the user stops</a:t>
            </a:r>
          </a:p>
        </p:txBody>
      </p:sp>
      <p:sp>
        <p:nvSpPr>
          <p:cNvPr id="6" name="TextBox 5"/>
          <p:cNvSpPr txBox="1"/>
          <p:nvPr/>
        </p:nvSpPr>
        <p:spPr>
          <a:xfrm>
            <a:off x="1755648" y="2148839"/>
            <a:ext cx="4023360" cy="685800"/>
          </a:xfrm>
          <a:prstGeom prst="rect">
            <a:avLst/>
          </a:prstGeom>
          <a:noFill/>
        </p:spPr>
        <p:txBody>
          <a:bodyPr wrap="square" anchor="t" lIns="0" rIns="0" tIns="0" bIns="0">
            <a:spAutoFit/>
          </a:bodyPr>
          <a:lstStyle/>
          <a:p>
            <a:pPr algn="l">
              <a:spcAft>
                <a:spcPts val="400"/>
              </a:spcAft>
            </a:pPr>
            <a:r>
              <a:rPr sz="1200" b="0" i="0">
                <a:solidFill>
                  <a:srgbClr val="5B5B6E"/>
                </a:solidFill>
                <a:latin typeface="Calibri"/>
              </a:rPr>
              <a:t>0.95 s average lead time; answers land ~30 ms after the utterance ends</a:t>
            </a:r>
          </a:p>
        </p:txBody>
      </p:sp>
      <p:sp>
        <p:nvSpPr>
          <p:cNvPr id="7" name="Rounded Rectangle 6"/>
          <p:cNvSpPr/>
          <p:nvPr/>
        </p:nvSpPr>
        <p:spPr>
          <a:xfrm>
            <a:off x="6190488" y="1508760"/>
            <a:ext cx="5120640" cy="137160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419088" y="1737360"/>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7104888" y="1709928"/>
            <a:ext cx="4023360" cy="41148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Fabrication impossible by design</a:t>
            </a:r>
          </a:p>
        </p:txBody>
      </p:sp>
      <p:sp>
        <p:nvSpPr>
          <p:cNvPr id="10" name="TextBox 9"/>
          <p:cNvSpPr txBox="1"/>
          <p:nvPr/>
        </p:nvSpPr>
        <p:spPr>
          <a:xfrm>
            <a:off x="7104888" y="2148839"/>
            <a:ext cx="4023360" cy="685800"/>
          </a:xfrm>
          <a:prstGeom prst="rect">
            <a:avLst/>
          </a:prstGeom>
          <a:noFill/>
        </p:spPr>
        <p:txBody>
          <a:bodyPr wrap="square" anchor="t" lIns="0" rIns="0" tIns="0" bIns="0">
            <a:spAutoFit/>
          </a:bodyPr>
          <a:lstStyle/>
          <a:p>
            <a:pPr algn="l">
              <a:spcAft>
                <a:spcPts val="400"/>
              </a:spcAft>
            </a:pPr>
            <a:r>
              <a:rPr sz="1200" b="0" i="0">
                <a:solidFill>
                  <a:srgbClr val="5B5B6E"/>
                </a:solidFill>
                <a:latin typeface="Calibri"/>
              </a:rPr>
              <a:t>the generator never sees a Doc ID; invalid indices are rejected, never repaired</a:t>
            </a:r>
          </a:p>
        </p:txBody>
      </p:sp>
      <p:sp>
        <p:nvSpPr>
          <p:cNvPr id="11" name="Rounded Rectangle 10"/>
          <p:cNvSpPr/>
          <p:nvPr/>
        </p:nvSpPr>
        <p:spPr>
          <a:xfrm>
            <a:off x="841248" y="3063239"/>
            <a:ext cx="5120640" cy="137160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69848" y="3291839"/>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3" name="TextBox 12"/>
          <p:cNvSpPr txBox="1"/>
          <p:nvPr/>
        </p:nvSpPr>
        <p:spPr>
          <a:xfrm>
            <a:off x="1755648" y="3264408"/>
            <a:ext cx="4023360" cy="41148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Refine, don’t restart — per claim</a:t>
            </a:r>
          </a:p>
        </p:txBody>
      </p:sp>
      <p:sp>
        <p:nvSpPr>
          <p:cNvPr id="14" name="TextBox 13"/>
          <p:cNvSpPr txBox="1"/>
          <p:nvPr/>
        </p:nvSpPr>
        <p:spPr>
          <a:xfrm>
            <a:off x="1755648" y="3703320"/>
            <a:ext cx="4023360" cy="685800"/>
          </a:xfrm>
          <a:prstGeom prst="rect">
            <a:avLst/>
          </a:prstGeom>
          <a:noFill/>
        </p:spPr>
        <p:txBody>
          <a:bodyPr wrap="square" anchor="t" lIns="0" rIns="0" tIns="0" bIns="0">
            <a:spAutoFit/>
          </a:bodyPr>
          <a:lstStyle/>
          <a:p>
            <a:pPr algn="l">
              <a:spcAft>
                <a:spcPts val="400"/>
              </a:spcAft>
            </a:pPr>
            <a:r>
              <a:rPr sz="1200" b="0" i="0">
                <a:solidFill>
                  <a:srgbClr val="5B5B6E"/>
                </a:solidFill>
                <a:latin typeface="Calibri"/>
              </a:rPr>
              <a:t>stale tiers + scoped re-verify; “Still applies / Updated / In addition”</a:t>
            </a:r>
          </a:p>
        </p:txBody>
      </p:sp>
      <p:sp>
        <p:nvSpPr>
          <p:cNvPr id="15" name="Rounded Rectangle 14"/>
          <p:cNvSpPr/>
          <p:nvPr/>
        </p:nvSpPr>
        <p:spPr>
          <a:xfrm>
            <a:off x="6190488" y="3063239"/>
            <a:ext cx="5120640" cy="137160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419088" y="3291839"/>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7" name="TextBox 16"/>
          <p:cNvSpPr txBox="1"/>
          <p:nvPr/>
        </p:nvSpPr>
        <p:spPr>
          <a:xfrm>
            <a:off x="7104888" y="3264408"/>
            <a:ext cx="4023360" cy="41148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Parsimony you can count</a:t>
            </a:r>
          </a:p>
        </p:txBody>
      </p:sp>
      <p:sp>
        <p:nvSpPr>
          <p:cNvPr id="18" name="TextBox 17"/>
          <p:cNvSpPr txBox="1"/>
          <p:nvPr/>
        </p:nvSpPr>
        <p:spPr>
          <a:xfrm>
            <a:off x="7104888" y="3703320"/>
            <a:ext cx="4023360" cy="685800"/>
          </a:xfrm>
          <a:prstGeom prst="rect">
            <a:avLst/>
          </a:prstGeom>
          <a:noFill/>
        </p:spPr>
        <p:txBody>
          <a:bodyPr wrap="square" anchor="t" lIns="0" rIns="0" tIns="0" bIns="0">
            <a:spAutoFit/>
          </a:bodyPr>
          <a:lstStyle/>
          <a:p>
            <a:pPr algn="l">
              <a:spcAft>
                <a:spcPts val="400"/>
              </a:spcAft>
            </a:pPr>
            <a:r>
              <a:rPr sz="1200" b="0" i="0">
                <a:solidFill>
                  <a:srgbClr val="5B5B6E"/>
                </a:solidFill>
                <a:latin typeface="Calibri"/>
              </a:rPr>
              <a:t>2 CPU models, 0 services, 1 generator call per sub-question</a:t>
            </a:r>
          </a:p>
        </p:txBody>
      </p:sp>
      <p:sp>
        <p:nvSpPr>
          <p:cNvPr id="19" name="Rounded Rectangle 18"/>
          <p:cNvSpPr/>
          <p:nvPr/>
        </p:nvSpPr>
        <p:spPr>
          <a:xfrm>
            <a:off x="841248" y="4617720"/>
            <a:ext cx="5120640" cy="137160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069848" y="4846320"/>
            <a:ext cx="502920" cy="5029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1" name="TextBox 20"/>
          <p:cNvSpPr txBox="1"/>
          <p:nvPr/>
        </p:nvSpPr>
        <p:spPr>
          <a:xfrm>
            <a:off x="1755648" y="4818888"/>
            <a:ext cx="4023360" cy="41148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Runs anywhere, unattended</a:t>
            </a:r>
          </a:p>
        </p:txBody>
      </p:sp>
      <p:sp>
        <p:nvSpPr>
          <p:cNvPr id="22" name="TextBox 21"/>
          <p:cNvSpPr txBox="1"/>
          <p:nvPr/>
        </p:nvSpPr>
        <p:spPr>
          <a:xfrm>
            <a:off x="1755648" y="5257800"/>
            <a:ext cx="4023360" cy="685800"/>
          </a:xfrm>
          <a:prstGeom prst="rect">
            <a:avLst/>
          </a:prstGeom>
          <a:noFill/>
        </p:spPr>
        <p:txBody>
          <a:bodyPr wrap="square" anchor="t" lIns="0" rIns="0" tIns="0" bIns="0">
            <a:spAutoFit/>
          </a:bodyPr>
          <a:lstStyle/>
          <a:p>
            <a:pPr algn="l">
              <a:spcAft>
                <a:spcPts val="400"/>
              </a:spcAft>
            </a:pPr>
            <a:r>
              <a:rPr sz="1200" b="0" i="0">
                <a:solidFill>
                  <a:srgbClr val="5B5B6E"/>
                </a:solidFill>
                <a:latin typeface="Calibri"/>
              </a:rPr>
              <a:t>offline extractive generator: no API key, deterministic, one command</a:t>
            </a:r>
          </a:p>
        </p:txBody>
      </p:sp>
      <p:sp>
        <p:nvSpPr>
          <p:cNvPr id="23" name="Rounded Rectangle 22"/>
          <p:cNvSpPr/>
          <p:nvPr/>
        </p:nvSpPr>
        <p:spPr>
          <a:xfrm>
            <a:off x="6190488" y="4617720"/>
            <a:ext cx="5120640" cy="137160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419088" y="4846320"/>
            <a:ext cx="502920" cy="502920"/>
          </a:xfrm>
          <a:prstGeom prst="ellipse">
            <a:avLst/>
          </a:prstGeom>
          <a:solidFill>
            <a:srgbClr val="3B63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6</a:t>
            </a:r>
          </a:p>
        </p:txBody>
      </p:sp>
      <p:sp>
        <p:nvSpPr>
          <p:cNvPr id="25" name="TextBox 24"/>
          <p:cNvSpPr txBox="1"/>
          <p:nvPr/>
        </p:nvSpPr>
        <p:spPr>
          <a:xfrm>
            <a:off x="7104888" y="4818888"/>
            <a:ext cx="4023360" cy="411480"/>
          </a:xfrm>
          <a:prstGeom prst="rect">
            <a:avLst/>
          </a:prstGeom>
          <a:noFill/>
        </p:spPr>
        <p:txBody>
          <a:bodyPr wrap="square" anchor="t" lIns="0" rIns="0" tIns="0" bIns="0">
            <a:spAutoFit/>
          </a:bodyPr>
          <a:lstStyle/>
          <a:p>
            <a:pPr algn="l">
              <a:spcAft>
                <a:spcPts val="400"/>
              </a:spcAft>
            </a:pPr>
            <a:r>
              <a:rPr sz="1500" b="1" i="0">
                <a:solidFill>
                  <a:srgbClr val="16162E"/>
                </a:solidFill>
                <a:latin typeface="Calibri"/>
              </a:rPr>
              <a:t>Evaluation you can trust</a:t>
            </a:r>
          </a:p>
        </p:txBody>
      </p:sp>
      <p:sp>
        <p:nvSpPr>
          <p:cNvPr id="26" name="TextBox 25"/>
          <p:cNvSpPr txBox="1"/>
          <p:nvPr/>
        </p:nvSpPr>
        <p:spPr>
          <a:xfrm>
            <a:off x="7104888" y="5257800"/>
            <a:ext cx="4023360" cy="685800"/>
          </a:xfrm>
          <a:prstGeom prst="rect">
            <a:avLst/>
          </a:prstGeom>
          <a:noFill/>
        </p:spPr>
        <p:txBody>
          <a:bodyPr wrap="square" anchor="t" lIns="0" rIns="0" tIns="0" bIns="0">
            <a:spAutoFit/>
          </a:bodyPr>
          <a:lstStyle/>
          <a:p>
            <a:pPr algn="l">
              <a:spcAft>
                <a:spcPts val="400"/>
              </a:spcAft>
            </a:pPr>
            <a:r>
              <a:rPr sz="1200" b="0" i="0">
                <a:solidFill>
                  <a:srgbClr val="5B5B6E"/>
                </a:solidFill>
                <a:latin typeface="Calibri"/>
              </a:rPr>
              <a:t>dev/test split, batch baseline, 3 ablations, first-run numbers and failures published</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Rounded Rectangle 2"/>
          <p:cNvSpPr/>
          <p:nvPr/>
        </p:nvSpPr>
        <p:spPr>
          <a:xfrm>
            <a:off x="841248" y="1600200"/>
            <a:ext cx="10442448" cy="96012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051560" y="1874519"/>
            <a:ext cx="1005840" cy="411480"/>
          </a:xfrm>
          <a:prstGeom prst="roundRect">
            <a:avLst>
              <a:gd name="adj" fmla="val 50000"/>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874519"/>
            <a:ext cx="1005840" cy="411480"/>
          </a:xfrm>
          <a:prstGeom prst="rect">
            <a:avLst/>
          </a:prstGeom>
          <a:noFill/>
        </p:spPr>
        <p:txBody>
          <a:bodyPr wrap="square" anchor="ctr" lIns="0" rIns="0" tIns="0" bIns="0">
            <a:spAutoFit/>
          </a:bodyPr>
          <a:lstStyle/>
          <a:p>
            <a:pPr algn="ctr">
              <a:spcAft>
                <a:spcPts val="400"/>
              </a:spcAft>
            </a:pPr>
            <a:r>
              <a:rPr sz="1300" b="1" i="0">
                <a:solidFill>
                  <a:srgbClr val="FFFFFF"/>
                </a:solidFill>
                <a:latin typeface="Calibri"/>
              </a:rPr>
              <a:t>Y</a:t>
            </a:r>
          </a:p>
        </p:txBody>
      </p:sp>
      <p:sp>
        <p:nvSpPr>
          <p:cNvPr id="6" name="TextBox 5"/>
          <p:cNvSpPr txBox="1"/>
          <p:nvPr/>
        </p:nvSpPr>
        <p:spPr>
          <a:xfrm>
            <a:off x="2331720" y="1691640"/>
            <a:ext cx="8778240" cy="777240"/>
          </a:xfrm>
          <a:prstGeom prst="rect">
            <a:avLst/>
          </a:prstGeom>
          <a:noFill/>
        </p:spPr>
        <p:txBody>
          <a:bodyPr wrap="square" anchor="ctr" lIns="0" rIns="0" tIns="0" bIns="0">
            <a:spAutoFit/>
          </a:bodyPr>
          <a:lstStyle/>
          <a:p>
            <a:pPr algn="l">
              <a:spcAft>
                <a:spcPts val="200"/>
              </a:spcAft>
            </a:pPr>
            <a:r>
              <a:rPr sz="1500" b="1" i="0">
                <a:solidFill>
                  <a:srgbClr val="16162E"/>
                </a:solidFill>
                <a:latin typeface="Calibri"/>
              </a:rPr>
              <a:t>Working prototype code — public or shared GitHub repo</a:t>
            </a:r>
          </a:p>
          <a:p>
            <a:pPr algn="l">
              <a:spcAft>
                <a:spcPts val="200"/>
              </a:spcAft>
            </a:pPr>
            <a:r>
              <a:rPr sz="1250" b="0" i="0">
                <a:solidFill>
                  <a:srgbClr val="5B5B6E"/>
                </a:solidFill>
                <a:latin typeface="Calibri"/>
              </a:rPr>
              <a:t>github.com/Phantom8420/Live-Rag-Streaming  (public)</a:t>
            </a:r>
          </a:p>
        </p:txBody>
      </p:sp>
      <p:sp>
        <p:nvSpPr>
          <p:cNvPr id="7" name="Rounded Rectangle 6"/>
          <p:cNvSpPr/>
          <p:nvPr/>
        </p:nvSpPr>
        <p:spPr>
          <a:xfrm>
            <a:off x="841248" y="2715768"/>
            <a:ext cx="10442448" cy="96012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51560" y="2990087"/>
            <a:ext cx="1005840" cy="411480"/>
          </a:xfrm>
          <a:prstGeom prst="roundRect">
            <a:avLst>
              <a:gd name="adj" fmla="val 50000"/>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51560" y="2990087"/>
            <a:ext cx="1005840" cy="411480"/>
          </a:xfrm>
          <a:prstGeom prst="rect">
            <a:avLst/>
          </a:prstGeom>
          <a:noFill/>
        </p:spPr>
        <p:txBody>
          <a:bodyPr wrap="square" anchor="ctr" lIns="0" rIns="0" tIns="0" bIns="0">
            <a:spAutoFit/>
          </a:bodyPr>
          <a:lstStyle/>
          <a:p>
            <a:pPr algn="ctr">
              <a:spcAft>
                <a:spcPts val="400"/>
              </a:spcAft>
            </a:pPr>
            <a:r>
              <a:rPr sz="1300" b="1" i="0">
                <a:solidFill>
                  <a:srgbClr val="FFFFFF"/>
                </a:solidFill>
                <a:latin typeface="Calibri"/>
              </a:rPr>
              <a:t>Y</a:t>
            </a:r>
          </a:p>
        </p:txBody>
      </p:sp>
      <p:sp>
        <p:nvSpPr>
          <p:cNvPr id="10" name="TextBox 9"/>
          <p:cNvSpPr txBox="1"/>
          <p:nvPr/>
        </p:nvSpPr>
        <p:spPr>
          <a:xfrm>
            <a:off x="2331720" y="2807208"/>
            <a:ext cx="8778240" cy="777240"/>
          </a:xfrm>
          <a:prstGeom prst="rect">
            <a:avLst/>
          </a:prstGeom>
          <a:noFill/>
        </p:spPr>
        <p:txBody>
          <a:bodyPr wrap="square" anchor="ctr" lIns="0" rIns="0" tIns="0" bIns="0">
            <a:spAutoFit/>
          </a:bodyPr>
          <a:lstStyle/>
          <a:p>
            <a:pPr algn="l">
              <a:spcAft>
                <a:spcPts val="200"/>
              </a:spcAft>
            </a:pPr>
            <a:r>
              <a:rPr sz="1500" b="1" i="0">
                <a:solidFill>
                  <a:srgbClr val="16162E"/>
                </a:solidFill>
                <a:latin typeface="Calibri"/>
              </a:rPr>
              <a:t>README with reproducible setup instructions</a:t>
            </a:r>
          </a:p>
          <a:p>
            <a:pPr algn="l">
              <a:spcAft>
                <a:spcPts val="200"/>
              </a:spcAft>
            </a:pPr>
            <a:r>
              <a:rPr sz="1250" b="0" i="0">
                <a:solidFill>
                  <a:srgbClr val="5B5B6E"/>
                </a:solidFill>
                <a:latin typeface="Calibri"/>
              </a:rPr>
              <a:t>pip install -r requirements.txt → python run_demo.py  ·  or  docker compose up</a:t>
            </a:r>
          </a:p>
        </p:txBody>
      </p:sp>
      <p:sp>
        <p:nvSpPr>
          <p:cNvPr id="11" name="Rounded Rectangle 10"/>
          <p:cNvSpPr/>
          <p:nvPr/>
        </p:nvSpPr>
        <p:spPr>
          <a:xfrm>
            <a:off x="841248" y="3831335"/>
            <a:ext cx="10442448" cy="960120"/>
          </a:xfrm>
          <a:prstGeom prst="roundRect">
            <a:avLst>
              <a:gd name="adj" fmla="val 12000"/>
            </a:avLst>
          </a:prstGeom>
          <a:solidFill>
            <a:srgbClr val="F3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051560" y="4105655"/>
            <a:ext cx="1005840" cy="411480"/>
          </a:xfrm>
          <a:prstGeom prst="roundRect">
            <a:avLst>
              <a:gd name="adj" fmla="val 50000"/>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51560" y="4105655"/>
            <a:ext cx="1005840" cy="411480"/>
          </a:xfrm>
          <a:prstGeom prst="rect">
            <a:avLst/>
          </a:prstGeom>
          <a:noFill/>
        </p:spPr>
        <p:txBody>
          <a:bodyPr wrap="square" anchor="ctr" lIns="0" rIns="0" tIns="0" bIns="0">
            <a:spAutoFit/>
          </a:bodyPr>
          <a:lstStyle/>
          <a:p>
            <a:pPr algn="ctr">
              <a:spcAft>
                <a:spcPts val="400"/>
              </a:spcAft>
            </a:pPr>
            <a:r>
              <a:rPr sz="1300" b="1" i="0">
                <a:solidFill>
                  <a:srgbClr val="FFFFFF"/>
                </a:solidFill>
                <a:latin typeface="Calibri"/>
              </a:rPr>
              <a:t>Y</a:t>
            </a:r>
          </a:p>
        </p:txBody>
      </p:sp>
      <p:sp>
        <p:nvSpPr>
          <p:cNvPr id="14" name="TextBox 13"/>
          <p:cNvSpPr txBox="1"/>
          <p:nvPr/>
        </p:nvSpPr>
        <p:spPr>
          <a:xfrm>
            <a:off x="2331720" y="3922775"/>
            <a:ext cx="8778240" cy="777240"/>
          </a:xfrm>
          <a:prstGeom prst="rect">
            <a:avLst/>
          </a:prstGeom>
          <a:noFill/>
        </p:spPr>
        <p:txBody>
          <a:bodyPr wrap="square" anchor="ctr" lIns="0" rIns="0" tIns="0" bIns="0">
            <a:spAutoFit/>
          </a:bodyPr>
          <a:lstStyle/>
          <a:p>
            <a:pPr algn="l">
              <a:spcAft>
                <a:spcPts val="200"/>
              </a:spcAft>
            </a:pPr>
            <a:r>
              <a:rPr sz="1500" b="1" i="0">
                <a:solidFill>
                  <a:srgbClr val="16162E"/>
                </a:solidFill>
                <a:latin typeface="Calibri"/>
              </a:rPr>
              <a:t>Demo video, max 5 minutes (YouTube or Drive link)</a:t>
            </a:r>
          </a:p>
          <a:p>
            <a:pPr algn="l">
              <a:spcAft>
                <a:spcPts val="200"/>
              </a:spcAft>
            </a:pPr>
            <a:r>
              <a:rPr sz="1250" b="0" i="0">
                <a:solidFill>
                  <a:srgbClr val="5B5B6E"/>
                </a:solidFill>
                <a:latin typeface="Calibri"/>
              </a:rPr>
              <a:t>docs/demo_video.mp4 in the repo — narrated screen recording of run_demo.py --realtime + the telemetry dashboard</a:t>
            </a:r>
          </a:p>
        </p:txBody>
      </p:sp>
      <p:sp>
        <p:nvSpPr>
          <p:cNvPr id="15" name="Rounded Rectangle 14"/>
          <p:cNvSpPr/>
          <p:nvPr/>
        </p:nvSpPr>
        <p:spPr>
          <a:xfrm>
            <a:off x="841248" y="4946904"/>
            <a:ext cx="10442448" cy="960120"/>
          </a:xfrm>
          <a:prstGeom prst="roundRect">
            <a:avLst>
              <a:gd name="adj" fmla="val 12000"/>
            </a:avLst>
          </a:prstGeom>
          <a:solidFill>
            <a:srgbClr val="EAF0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51560" y="5221224"/>
            <a:ext cx="1005840" cy="411480"/>
          </a:xfrm>
          <a:prstGeom prst="roundRect">
            <a:avLst>
              <a:gd name="adj" fmla="val 50000"/>
            </a:avLst>
          </a:prstGeom>
          <a:solidFill>
            <a:srgbClr val="2E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5221224"/>
            <a:ext cx="1005840" cy="411480"/>
          </a:xfrm>
          <a:prstGeom prst="rect">
            <a:avLst/>
          </a:prstGeom>
          <a:noFill/>
        </p:spPr>
        <p:txBody>
          <a:bodyPr wrap="square" anchor="ctr" lIns="0" rIns="0" tIns="0" bIns="0">
            <a:spAutoFit/>
          </a:bodyPr>
          <a:lstStyle/>
          <a:p>
            <a:pPr algn="ctr">
              <a:spcAft>
                <a:spcPts val="400"/>
              </a:spcAft>
            </a:pPr>
            <a:r>
              <a:rPr sz="1300" b="1" i="0">
                <a:solidFill>
                  <a:srgbClr val="FFFFFF"/>
                </a:solidFill>
                <a:latin typeface="Calibri"/>
              </a:rPr>
              <a:t>Y</a:t>
            </a:r>
          </a:p>
        </p:txBody>
      </p:sp>
      <p:sp>
        <p:nvSpPr>
          <p:cNvPr id="18" name="TextBox 17"/>
          <p:cNvSpPr txBox="1"/>
          <p:nvPr/>
        </p:nvSpPr>
        <p:spPr>
          <a:xfrm>
            <a:off x="2331720" y="5038344"/>
            <a:ext cx="8778240" cy="777240"/>
          </a:xfrm>
          <a:prstGeom prst="rect">
            <a:avLst/>
          </a:prstGeom>
          <a:noFill/>
        </p:spPr>
        <p:txBody>
          <a:bodyPr wrap="square" anchor="ctr" lIns="0" rIns="0" tIns="0" bIns="0">
            <a:spAutoFit/>
          </a:bodyPr>
          <a:lstStyle/>
          <a:p>
            <a:pPr algn="l">
              <a:spcAft>
                <a:spcPts val="200"/>
              </a:spcAft>
            </a:pPr>
            <a:r>
              <a:rPr sz="1500" b="1" i="0">
                <a:solidFill>
                  <a:srgbClr val="16162E"/>
                </a:solidFill>
                <a:latin typeface="Calibri"/>
              </a:rPr>
              <a:t>Presentation file (PPT or PDF)</a:t>
            </a:r>
          </a:p>
          <a:p>
            <a:pPr algn="l">
              <a:spcAft>
                <a:spcPts val="200"/>
              </a:spcAft>
            </a:pPr>
            <a:r>
              <a:rPr sz="1250" b="0" i="0">
                <a:solidFill>
                  <a:srgbClr val="5B5B6E"/>
                </a:solidFill>
                <a:latin typeface="Calibri"/>
              </a:rPr>
              <a:t>this deck</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