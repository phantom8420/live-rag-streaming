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Calibri"/>
              </a:rPr>
              <a:t>All gates, % (target: G2≥80, G3≥70, G4≥85)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Streaming engine</c:v>
                </c:pt>
              </c:strCache>
            </c:strRef>
          </c:tx>
          <c:spPr>
            <a:solidFill>
              <a:srgbClr val="2E9E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G2 early retrieval</c:v>
                  </c:pt>
                  <c:pt idx="1">
                    <c:v>G3 compound split</c:v>
                  </c:pt>
                  <c:pt idx="2">
                    <c:v>G4 citation precision</c:v>
                  </c:pt>
                  <c:pt idx="3">
                    <c:v>Intent coverage</c:v>
                  </c:pt>
                  <c:pt idx="4">
                    <c:v>G5 state preserved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90.6</c:v>
                </c:pt>
                <c:pt idx="1">
                  <c:v>100</c:v>
                </c:pt>
                <c:pt idx="2">
                  <c:v>95.3</c:v>
                </c:pt>
                <c:pt idx="3">
                  <c:v>97.6</c:v>
                </c:pt>
                <c:pt idx="4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Batch baseline</c:v>
                </c:pt>
              </c:strCache>
            </c:strRef>
          </c:tx>
          <c:spPr>
            <a:solidFill>
              <a:srgbClr val="F0616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G2 early retrieval</c:v>
                  </c:pt>
                  <c:pt idx="1">
                    <c:v>G3 compound split</c:v>
                  </c:pt>
                  <c:pt idx="2">
                    <c:v>G4 citation precision</c:v>
                  </c:pt>
                  <c:pt idx="3">
                    <c:v>Intent coverage</c:v>
                  </c:pt>
                  <c:pt idx="4">
                    <c:v>G5 state preserved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76.5</c:v>
                </c:pt>
                <c:pt idx="3">
                  <c:v>90.2</c:v>
                </c:pt>
                <c:pt idx="4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A6A6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9525" cap="flat">
              <a:solidFill>
                <a:srgbClr val="3535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A6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62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6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Calibri"/>
              </a:rPr>
              <a:t>Retrieval fusion &amp; decomposition ablations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 precision %</c:v>
                </c:pt>
              </c:strCache>
            </c:strRef>
          </c:tx>
          <c:spPr>
            <a:solidFill>
              <a:srgbClr val="3B63D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Full system</c:v>
                  </c:pt>
                  <c:pt idx="1">
                    <c:v>No cluster prior</c:v>
                  </c:pt>
                  <c:pt idx="2">
                    <c:v>No decomposition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95.3</c:v>
                </c:pt>
                <c:pt idx="1">
                  <c:v>90.7</c:v>
                </c:pt>
                <c:pt idx="2">
                  <c:v>93.8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Intent coverage %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Full system</c:v>
                  </c:pt>
                  <c:pt idx="1">
                    <c:v>No cluster prior</c:v>
                  </c:pt>
                  <c:pt idx="2">
                    <c:v>No decomposition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97.6</c:v>
                </c:pt>
                <c:pt idx="1">
                  <c:v>92.7</c:v>
                </c:pt>
                <c:pt idx="2">
                  <c:v>75.6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A6A6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9525" cap="flat">
              <a:solidFill>
                <a:srgbClr val="3535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A6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62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6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  —  GENERATIVE AI HACKATHON, 3RD EDITION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Live RAG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incremental retrieval, multi-intent decomposition and state-preserving refinement — Theme 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F1F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6771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3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Degenrates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</a:t>
            </a:r>
            <a:pPr indent="0" marL="0">
              <a:buNone/>
            </a:pPr>
            <a:r>
              <a:rPr lang="en-US" sz="13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Institute of Engineering &amp; Technology, Patiala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Ishaan Jain (ijain_be25@thapar.edu)  ·  Saksham Kaushal (skaushal_be25@thapar.edu)  ·  Abhishek Rath (arath_be25@thapar.edu)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88950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2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github.com/Phantom8420/Live-Rag-Streaming  (public)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batch RAG breaks in live conversation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913632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F1F45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142232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conversational latency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78231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starts only after the full utterance ends — the batch baseline answers 455 ms after the user stops (vs 32 ms streaming).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3913632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F1F4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26280" y="4142232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requests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478231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“Venue capacity + cancellation policy + catering” arrives as one stream of speech — batch covers only 90.2% of intents.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3913632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F1F45"/>
          </a:solidFill>
          <a:ln/>
        </p:spPr>
      </p:sp>
      <p:sp>
        <p:nvSpPr>
          <p:cNvPr id="21" name="Shape 19"/>
          <p:cNvSpPr/>
          <p:nvPr/>
        </p:nvSpPr>
        <p:spPr>
          <a:xfrm>
            <a:off x="8275320" y="4142232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6968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Late-arriving constraints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75320" y="478231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“Actually the trip was international” — naive systems restart from scratch and lose 100% of prior claims.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Degenrates — Streaming Live RAG — PRISM Theme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five stages, ~1–2 ms of retrieval work per chunk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24912" cy="658368"/>
          </a:xfrm>
          <a:prstGeom prst="roundRect">
            <a:avLst>
              <a:gd name="adj" fmla="val 8333"/>
            </a:avLst>
          </a:prstGeom>
          <a:solidFill>
            <a:srgbClr val="24244F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60120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s  </a:t>
            </a:r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to plan a customer workshop in…”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36976" y="914400"/>
            <a:ext cx="2724912" cy="658368"/>
          </a:xfrm>
          <a:prstGeom prst="roundRect">
            <a:avLst>
              <a:gd name="adj" fmla="val 8333"/>
            </a:avLst>
          </a:prstGeom>
          <a:solidFill>
            <a:srgbClr val="24244F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46704" y="960120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s  </a:t>
            </a:r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“…Pune for 30 people, and I need…”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016752" y="914400"/>
            <a:ext cx="2724912" cy="658368"/>
          </a:xfrm>
          <a:prstGeom prst="roundRect">
            <a:avLst>
              <a:gd name="adj" fmla="val 8333"/>
            </a:avLst>
          </a:prstGeom>
          <a:solidFill>
            <a:srgbClr val="24244F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960120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s  </a:t>
            </a:r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“…the cancellation policy and the catering options.”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796528" y="914400"/>
            <a:ext cx="2724912" cy="658368"/>
          </a:xfrm>
          <a:prstGeom prst="roundRect">
            <a:avLst>
              <a:gd name="adj" fmla="val 8333"/>
            </a:avLst>
          </a:prstGeom>
          <a:solidFill>
            <a:srgbClr val="24244F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06256" y="960120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s — end  </a:t>
            </a:r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[utterance end — utterance fully heard]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96112" y="196596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1F1F45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3916" y="2112264"/>
            <a:ext cx="438912" cy="43891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1613916" y="21122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7552" y="26243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 policy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990088"/>
            <a:ext cx="16550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entropy → wait / fork / suppress — ≤4 speculative branches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70632" y="2683764"/>
            <a:ext cx="256032" cy="256032"/>
          </a:xfrm>
          <a:prstGeom prst="rightArrow">
            <a:avLst/>
          </a:prstGeom>
          <a:solidFill>
            <a:srgbClr val="2E9E8F"/>
          </a:solidFill>
          <a:ln/>
        </p:spPr>
      </p:sp>
      <p:sp>
        <p:nvSpPr>
          <p:cNvPr id="17" name="Shape 15"/>
          <p:cNvSpPr/>
          <p:nvPr/>
        </p:nvSpPr>
        <p:spPr>
          <a:xfrm>
            <a:off x="3026664" y="196596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1F1F45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4468" y="2112264"/>
            <a:ext cx="438912" cy="43891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9" name="Text 17"/>
          <p:cNvSpPr/>
          <p:nvPr/>
        </p:nvSpPr>
        <p:spPr>
          <a:xfrm>
            <a:off x="3744468" y="21122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18104" y="26243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36392" y="2990088"/>
            <a:ext cx="16550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→ nearest cluster — distinct clusters = distinct intents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01184" y="2683764"/>
            <a:ext cx="256032" cy="256032"/>
          </a:xfrm>
          <a:prstGeom prst="rightArrow">
            <a:avLst/>
          </a:prstGeom>
          <a:solidFill>
            <a:srgbClr val="2E9E8F"/>
          </a:solidFill>
          <a:ln/>
        </p:spPr>
      </p:sp>
      <p:sp>
        <p:nvSpPr>
          <p:cNvPr id="23" name="Shape 21"/>
          <p:cNvSpPr/>
          <p:nvPr/>
        </p:nvSpPr>
        <p:spPr>
          <a:xfrm>
            <a:off x="5157216" y="196596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1F1F45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75020" y="2112264"/>
            <a:ext cx="438912" cy="43891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5" name="Text 23"/>
          <p:cNvSpPr/>
          <p:nvPr/>
        </p:nvSpPr>
        <p:spPr>
          <a:xfrm>
            <a:off x="5875020" y="21122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48656" y="26243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retrieval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66944" y="2990088"/>
            <a:ext cx="16550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FAISS + cluster prior → RRF, async, 1–2 ms / branch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31736" y="2683764"/>
            <a:ext cx="256032" cy="256032"/>
          </a:xfrm>
          <a:prstGeom prst="rightArrow">
            <a:avLst/>
          </a:prstGeom>
          <a:solidFill>
            <a:srgbClr val="2E9E8F"/>
          </a:solidFill>
          <a:ln/>
        </p:spPr>
      </p:sp>
      <p:sp>
        <p:nvSpPr>
          <p:cNvPr id="29" name="Shape 27"/>
          <p:cNvSpPr/>
          <p:nvPr/>
        </p:nvSpPr>
        <p:spPr>
          <a:xfrm>
            <a:off x="7287768" y="196596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1F1F45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5572" y="2112264"/>
            <a:ext cx="438912" cy="43891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1" name="Text 29"/>
          <p:cNvSpPr/>
          <p:nvPr/>
        </p:nvSpPr>
        <p:spPr>
          <a:xfrm>
            <a:off x="8005572" y="21122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79208" y="26243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Cite-then-write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97496" y="2990088"/>
            <a:ext cx="16550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indices [1..k] — selection before prose — overlap + NLI verify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62288" y="2683764"/>
            <a:ext cx="256032" cy="256032"/>
          </a:xfrm>
          <a:prstGeom prst="rightArrow">
            <a:avLst/>
          </a:prstGeom>
          <a:solidFill>
            <a:srgbClr val="2E9E8F"/>
          </a:solidFill>
          <a:ln/>
        </p:spPr>
      </p:sp>
      <p:sp>
        <p:nvSpPr>
          <p:cNvPr id="35" name="Shape 33"/>
          <p:cNvSpPr/>
          <p:nvPr/>
        </p:nvSpPr>
        <p:spPr>
          <a:xfrm>
            <a:off x="9418320" y="196596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1F1F45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36124" y="2112264"/>
            <a:ext cx="438912" cy="43891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7" name="Text 35"/>
          <p:cNvSpPr/>
          <p:nvPr/>
        </p:nvSpPr>
        <p:spPr>
          <a:xfrm>
            <a:off x="10136124" y="21122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509760" y="26243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graph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528048" y="2990088"/>
            <a:ext cx="16550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constraint → stale tiers → scoped re-verify — versioned answers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8404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primitives — computed once, reused by all 5 stages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7200" y="4206240"/>
            <a:ext cx="2724912" cy="777240"/>
          </a:xfrm>
          <a:prstGeom prst="roundRect">
            <a:avLst>
              <a:gd name="adj" fmla="val 7059"/>
            </a:avLst>
          </a:prstGeom>
          <a:solidFill>
            <a:srgbClr val="24244F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261104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embed()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" y="455371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 encoder, 22M params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73552" y="4206240"/>
            <a:ext cx="2724912" cy="777240"/>
          </a:xfrm>
          <a:prstGeom prst="roundRect">
            <a:avLst>
              <a:gd name="adj" fmla="val 7059"/>
            </a:avLst>
          </a:prstGeom>
          <a:solidFill>
            <a:srgbClr val="24244F"/>
          </a:solidFill>
          <a:ln/>
        </p:spPr>
      </p:sp>
      <p:sp>
        <p:nvSpPr>
          <p:cNvPr id="45" name="Text 43"/>
          <p:cNvSpPr/>
          <p:nvPr/>
        </p:nvSpPr>
        <p:spPr>
          <a:xfrm>
            <a:off x="3410712" y="4261104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centroids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10712" y="455371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k by silhouette — 22 clusters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89904" y="4206240"/>
            <a:ext cx="2724912" cy="777240"/>
          </a:xfrm>
          <a:prstGeom prst="roundRect">
            <a:avLst>
              <a:gd name="adj" fmla="val 7059"/>
            </a:avLst>
          </a:prstGeom>
          <a:solidFill>
            <a:srgbClr val="24244F"/>
          </a:solidFill>
          <a:ln/>
        </p:spPr>
      </p:sp>
      <p:sp>
        <p:nvSpPr>
          <p:cNvPr id="48" name="Text 46"/>
          <p:cNvSpPr/>
          <p:nvPr/>
        </p:nvSpPr>
        <p:spPr>
          <a:xfrm>
            <a:off x="6227064" y="4261104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extract_slots()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27064" y="455371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corpus gazetteer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906256" y="4206240"/>
            <a:ext cx="2724912" cy="777240"/>
          </a:xfrm>
          <a:prstGeom prst="roundRect">
            <a:avLst>
              <a:gd name="adj" fmla="val 7059"/>
            </a:avLst>
          </a:prstGeom>
          <a:solidFill>
            <a:srgbClr val="24244F"/>
          </a:solidFill>
          <a:ln/>
        </p:spPr>
      </p:sp>
      <p:sp>
        <p:nvSpPr>
          <p:cNvPr id="51" name="Text 49"/>
          <p:cNvSpPr/>
          <p:nvPr/>
        </p:nvSpPr>
        <p:spPr>
          <a:xfrm>
            <a:off x="9043416" y="4261104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entails()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043416" y="455371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cross-encoder, 82M params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516636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1F1F45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5257800"/>
            <a:ext cx="22549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457200" y="5806440"/>
            <a:ext cx="22549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712110" y="5257800"/>
            <a:ext cx="22549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2712110" y="5806440"/>
            <a:ext cx="22549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967021" y="5257800"/>
            <a:ext cx="22549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4967021" y="5806440"/>
            <a:ext cx="22549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clusters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221931" y="5257800"/>
            <a:ext cx="22549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≤4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7221931" y="5806440"/>
            <a:ext cx="22549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branches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476842" y="5257800"/>
            <a:ext cx="22549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 s</a:t>
            </a:r>
            <a:endParaRPr lang="en-US" sz="2600" dirty="0"/>
          </a:p>
        </p:txBody>
      </p:sp>
      <p:sp>
        <p:nvSpPr>
          <p:cNvPr id="63" name="Text 61"/>
          <p:cNvSpPr/>
          <p:nvPr/>
        </p:nvSpPr>
        <p:spPr>
          <a:xfrm>
            <a:off x="9476842" y="5806440"/>
            <a:ext cx="22549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retrieval lead time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Degenrates — Streaming Live RAG — PRISM Theme 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streaming vs. batch baseline (held-out test split, 30 conversations / 39 turns)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70408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635240" y="914400"/>
            <a:ext cx="4096512" cy="1051560"/>
          </a:xfrm>
          <a:prstGeom prst="roundRect">
            <a:avLst>
              <a:gd name="adj" fmla="val 6087"/>
            </a:avLst>
          </a:prstGeom>
          <a:solidFill>
            <a:srgbClr val="1F1F45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0" y="969264"/>
            <a:ext cx="1691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/ 206 ms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464040" y="969264"/>
            <a:ext cx="213055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latency p50 / p95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455 / 564 ms batch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635240" y="2075688"/>
            <a:ext cx="4096512" cy="1051560"/>
          </a:xfrm>
          <a:prstGeom prst="roundRect">
            <a:avLst>
              <a:gd name="adj" fmla="val 6087"/>
            </a:avLst>
          </a:prstGeom>
          <a:solidFill>
            <a:srgbClr val="1F1F4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0" y="2130552"/>
            <a:ext cx="1691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568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464040" y="2130552"/>
            <a:ext cx="213055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would-be LLM tokens / turn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1,017 batch (−44%)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635240" y="3236976"/>
            <a:ext cx="4096512" cy="1051560"/>
          </a:xfrm>
          <a:prstGeom prst="roundRect">
            <a:avLst>
              <a:gd name="adj" fmla="val 6087"/>
            </a:avLst>
          </a:prstGeom>
          <a:solidFill>
            <a:srgbClr val="1F1F45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0" y="3291840"/>
            <a:ext cx="1691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1.80 / 1.36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464040" y="3291840"/>
            <a:ext cx="213055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retrievals / gen calls per turn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1.00 / 2.72 batch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35240" y="4398264"/>
            <a:ext cx="4096512" cy="1051560"/>
          </a:xfrm>
          <a:prstGeom prst="roundRect">
            <a:avLst>
              <a:gd name="adj" fmla="val 6087"/>
            </a:avLst>
          </a:prstGeom>
          <a:solidFill>
            <a:srgbClr val="1F1F45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4453128"/>
            <a:ext cx="1691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0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464040" y="4453128"/>
            <a:ext cx="213055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/ untraceable citations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run, both systems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61722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split (thresholds set here): streaming scores 100% on every gate; baseline scores 71.8% gold precision.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Degenrates — Streaming Live RAG — PRISM Theme 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Ablations — what actually drives the numbers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92240" y="914400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1F1F45"/>
          </a:solidFill>
          <a:ln/>
        </p:spPr>
      </p:sp>
      <p:sp>
        <p:nvSpPr>
          <p:cNvPr id="5" name="Text 2"/>
          <p:cNvSpPr/>
          <p:nvPr/>
        </p:nvSpPr>
        <p:spPr>
          <a:xfrm>
            <a:off x="6629400" y="950976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prior matters most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29400" y="121615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it costs −4.6 pts gold precision and −4.9 pts intent coverage — it's a free 3rd RRF list, no extra model or latency.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492240" y="1682496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1F1F45"/>
          </a:solidFill>
          <a:ln/>
        </p:spPr>
      </p:sp>
      <p:sp>
        <p:nvSpPr>
          <p:cNvPr id="8" name="Text 5"/>
          <p:cNvSpPr/>
          <p:nvPr/>
        </p:nvSpPr>
        <p:spPr>
          <a:xfrm>
            <a:off x="6629400" y="171907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controller: +18.6% retrievals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29400" y="198424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every chunk → 2.13 vs 1.80 retrievals/turn for zero quality gain (query thrashing).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92240" y="2450592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1F1F45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248716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retrieval = 7× slower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629400" y="275234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End-only controller: p50 227 ms vs 32 ms, and scoped refinements drop to 75%.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92240" y="3218688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1F1F45"/>
          </a:solidFill>
          <a:ln/>
        </p:spPr>
      </p:sp>
      <p:sp>
        <p:nvSpPr>
          <p:cNvPr id="14" name="Text 11"/>
          <p:cNvSpPr/>
          <p:nvPr/>
        </p:nvSpPr>
        <p:spPr>
          <a:xfrm>
            <a:off x="6629400" y="325526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comma-split: 40% false triggers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29400" y="352044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confidence gate → turns filler speech into spurious sub-queries.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92240" y="3986784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1F1F45"/>
          </a:solidFill>
          <a:ln/>
        </p:spPr>
      </p:sp>
      <p:sp>
        <p:nvSpPr>
          <p:cNvPr id="17" name="Text 14"/>
          <p:cNvSpPr/>
          <p:nvPr/>
        </p:nvSpPr>
        <p:spPr>
          <a:xfrm>
            <a:off x="6629400" y="402336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decomposition: −22 pts intent coverage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629400" y="4288536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75.6% vs 97.6% — compound intents go uncovered without cluster-based splitting.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Degenrates — Streaming Live RAG — PRISM Theme 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 stack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21615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 asyncio  —  </a:t>
            </a:r>
            <a:pPr indent="0" marL="0">
              <a:buNone/>
            </a:pPr>
            <a:r>
              <a:rPr lang="en-US" sz="10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core; model calls on worker threads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rgbClr val="3B63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67335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 —  </a:t>
            </a:r>
            <a:pPr indent="0" marL="0">
              <a:buNone/>
            </a:pPr>
            <a:r>
              <a:rPr lang="en-US" sz="10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all-MiniLM-L6-v2, 22M params — one encoder for everything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13055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rank_bm25 + faiss-cpu  —  </a:t>
            </a:r>
            <a:pPr indent="0" marL="0">
              <a:buNone/>
            </a:pPr>
            <a:r>
              <a:rPr lang="en-US" sz="10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+ dense fused with Reciprocal Rank Fusion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384048" cy="384048"/>
          </a:xfrm>
          <a:prstGeom prst="ellipse">
            <a:avLst/>
          </a:prstGeom>
          <a:solidFill>
            <a:srgbClr val="3B63D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58775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k-means  —  </a:t>
            </a:r>
            <a:pPr indent="0" marL="0">
              <a:buNone/>
            </a:pPr>
            <a:r>
              <a:rPr lang="en-US" sz="10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clusters, k chosen by silhouette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04495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cross-encoder  —  </a:t>
            </a:r>
            <a:pPr indent="0" marL="0">
              <a:buNone/>
            </a:pPr>
            <a:r>
              <a:rPr lang="en-US" sz="10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nli-MiniLM2-L6-H768, 82M — independent verifier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384048" cy="384048"/>
          </a:xfrm>
          <a:prstGeom prst="ellipse">
            <a:avLst/>
          </a:prstGeom>
          <a:solidFill>
            <a:srgbClr val="3B63D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50215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async LLM  —  </a:t>
            </a:r>
            <a:pPr indent="0" marL="0">
              <a:buNone/>
            </a:pPr>
            <a:r>
              <a:rPr lang="en-US" sz="10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extractive default; any OpenAI-compatible endpoint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395935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+ tests  —  </a:t>
            </a:r>
            <a:pPr indent="0" marL="0">
              <a:buNone/>
            </a:pPr>
            <a:r>
              <a:rPr lang="en-US" sz="10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trace, HTML dashboard, 33 pytest cases, Docker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Parsimony: ~104M params across 2 CPU models — 0 services, no vector DB, no GPU, no API key required.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868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in numbers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0" y="12344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1F1F45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1325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14×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537960" y="18562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answers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21305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32 ms vs 455 ms after the user stops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098280" y="12344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1F1F45"/>
          </a:solidFill>
          <a:ln/>
        </p:spPr>
      </p:sp>
      <p:sp>
        <p:nvSpPr>
          <p:cNvPr id="32" name="Text 30"/>
          <p:cNvSpPr/>
          <p:nvPr/>
        </p:nvSpPr>
        <p:spPr>
          <a:xfrm>
            <a:off x="9235440" y="1325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9235440" y="18562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citations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35440" y="21305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impossible; closed indices only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0" y="274320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1F1F45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2834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−44%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537960" y="33649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tokens / turn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36393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 vs 1,017 — branches spend retrieval, not LLM calls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098280" y="274320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1F1F45"/>
          </a:solidFill>
          <a:ln/>
        </p:spPr>
      </p:sp>
      <p:sp>
        <p:nvSpPr>
          <p:cNvPr id="40" name="Text 38"/>
          <p:cNvSpPr/>
          <p:nvPr/>
        </p:nvSpPr>
        <p:spPr>
          <a:xfrm>
            <a:off x="9235440" y="2834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9235440" y="33649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suppressed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35440" y="36393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retrievals on presentation-only / filler turns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00800" y="4526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fits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0" y="4846320"/>
            <a:ext cx="1271016" cy="566928"/>
          </a:xfrm>
          <a:prstGeom prst="roundRect">
            <a:avLst>
              <a:gd name="adj" fmla="val 48387"/>
            </a:avLst>
          </a:prstGeom>
          <a:solidFill>
            <a:srgbClr val="24244F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55664" y="4846320"/>
            <a:ext cx="1161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in-car assistants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726680" y="4846320"/>
            <a:ext cx="1271016" cy="566928"/>
          </a:xfrm>
          <a:prstGeom prst="roundRect">
            <a:avLst>
              <a:gd name="adj" fmla="val 48387"/>
            </a:avLst>
          </a:prstGeom>
          <a:solidFill>
            <a:srgbClr val="24244F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81544" y="4846320"/>
            <a:ext cx="1161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Contact-centre agent assist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052560" y="4846320"/>
            <a:ext cx="1271016" cy="566928"/>
          </a:xfrm>
          <a:prstGeom prst="roundRect">
            <a:avLst>
              <a:gd name="adj" fmla="val 48387"/>
            </a:avLst>
          </a:prstGeom>
          <a:solidFill>
            <a:srgbClr val="24244F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07424" y="4846320"/>
            <a:ext cx="1161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help desks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378440" y="4846320"/>
            <a:ext cx="1271016" cy="566928"/>
          </a:xfrm>
          <a:prstGeom prst="roundRect">
            <a:avLst>
              <a:gd name="adj" fmla="val 48387"/>
            </a:avLst>
          </a:prstGeom>
          <a:solidFill>
            <a:srgbClr val="24244F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433304" y="4846320"/>
            <a:ext cx="1161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&amp; device support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Degenrates — Streaming Live RAG — PRISM Theme 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Wins — and What's Next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532120" cy="914400"/>
          </a:xfrm>
          <a:prstGeom prst="roundRect">
            <a:avLst>
              <a:gd name="adj" fmla="val 7000"/>
            </a:avLst>
          </a:prstGeom>
          <a:solidFill>
            <a:srgbClr val="1F1F45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097280"/>
            <a:ext cx="457200" cy="457200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960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before the user stops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30759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s average lead time; answers land ~30 ms after the utterance ends.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26480" y="868680"/>
            <a:ext cx="5532120" cy="914400"/>
          </a:xfrm>
          <a:prstGeom prst="roundRect">
            <a:avLst>
              <a:gd name="adj" fmla="val 7000"/>
            </a:avLst>
          </a:prstGeom>
          <a:solidFill>
            <a:srgbClr val="1F1F45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097280"/>
            <a:ext cx="457200" cy="457200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0" y="960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impossible by design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130759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never sees a Doc ID; invalid indices are rejected, never repaired.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92808"/>
            <a:ext cx="5532120" cy="914400"/>
          </a:xfrm>
          <a:prstGeom prst="roundRect">
            <a:avLst>
              <a:gd name="adj" fmla="val 7000"/>
            </a:avLst>
          </a:prstGeom>
          <a:solidFill>
            <a:srgbClr val="1F1F45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121408"/>
            <a:ext cx="457200" cy="457200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19842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Refine, don't restart — per claim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3317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tiers + scoped re-verify; “Still applies / Updated / In addition.”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892808"/>
            <a:ext cx="5532120" cy="914400"/>
          </a:xfrm>
          <a:prstGeom prst="roundRect">
            <a:avLst>
              <a:gd name="adj" fmla="val 7000"/>
            </a:avLst>
          </a:prstGeom>
          <a:solidFill>
            <a:srgbClr val="1F1F45"/>
          </a:solidFill>
          <a:ln/>
        </p:spPr>
      </p:sp>
      <p:sp>
        <p:nvSpPr>
          <p:cNvPr id="19" name="Shape 17"/>
          <p:cNvSpPr/>
          <p:nvPr/>
        </p:nvSpPr>
        <p:spPr>
          <a:xfrm>
            <a:off x="6263640" y="2121408"/>
            <a:ext cx="457200" cy="457200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19842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Parsimony you can count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23317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CPU models (~104M params), 0 services, 1 generator call per sub-question.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24244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43814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fusion before synthesis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3977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sub-queries whose top chunk grounds both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24528" y="338328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24244F"/>
          </a:solidFill>
          <a:ln/>
        </p:spPr>
      </p:sp>
      <p:sp>
        <p:nvSpPr>
          <p:cNvPr id="29" name="Text 27"/>
          <p:cNvSpPr/>
          <p:nvPr/>
        </p:nvSpPr>
        <p:spPr>
          <a:xfrm>
            <a:off x="4361688" y="343814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61688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ASR + hosted-LLM eval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61688" y="3977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hypotheses; Gemini / Llama behind the same verifier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991856" y="338328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24244F"/>
          </a:solidFill>
          <a:ln/>
        </p:spPr>
      </p:sp>
      <p:sp>
        <p:nvSpPr>
          <p:cNvPr id="33" name="Text 31"/>
          <p:cNvSpPr/>
          <p:nvPr/>
        </p:nvSpPr>
        <p:spPr>
          <a:xfrm>
            <a:off x="8129016" y="343814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29016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+ learned controller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29016" y="3977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Hindi/Hinglish encoder; wait/fork trained on logged traces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4983480"/>
            <a:ext cx="2743200" cy="566928"/>
          </a:xfrm>
          <a:prstGeom prst="roundRect">
            <a:avLst>
              <a:gd name="adj" fmla="val 48387"/>
            </a:avLst>
          </a:prstGeom>
          <a:solidFill>
            <a:srgbClr val="1F1F45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5074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05840" y="498348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public GitHub repo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00984" y="4983480"/>
            <a:ext cx="2743200" cy="566928"/>
          </a:xfrm>
          <a:prstGeom prst="roundRect">
            <a:avLst>
              <a:gd name="adj" fmla="val 48387"/>
            </a:avLst>
          </a:prstGeom>
          <a:solidFill>
            <a:srgbClr val="1F1F45"/>
          </a:solidFill>
          <a:ln/>
        </p:spPr>
      </p:sp>
      <p:sp>
        <p:nvSpPr>
          <p:cNvPr id="42" name="Shape 40"/>
          <p:cNvSpPr/>
          <p:nvPr/>
        </p:nvSpPr>
        <p:spPr>
          <a:xfrm>
            <a:off x="3392424" y="5074920"/>
            <a:ext cx="384048" cy="384048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43" name="Text 41"/>
          <p:cNvSpPr/>
          <p:nvPr/>
        </p:nvSpPr>
        <p:spPr>
          <a:xfrm>
            <a:off x="3392424" y="5074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49624" y="498348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reproducible setup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44768" y="4983480"/>
            <a:ext cx="2743200" cy="566928"/>
          </a:xfrm>
          <a:prstGeom prst="roundRect">
            <a:avLst>
              <a:gd name="adj" fmla="val 48387"/>
            </a:avLst>
          </a:prstGeom>
          <a:solidFill>
            <a:srgbClr val="1F1F45"/>
          </a:solidFill>
          <a:ln/>
        </p:spPr>
      </p:sp>
      <p:sp>
        <p:nvSpPr>
          <p:cNvPr id="46" name="Shape 44"/>
          <p:cNvSpPr/>
          <p:nvPr/>
        </p:nvSpPr>
        <p:spPr>
          <a:xfrm>
            <a:off x="6236208" y="5074920"/>
            <a:ext cx="384048" cy="384048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47" name="Text 45"/>
          <p:cNvSpPr/>
          <p:nvPr/>
        </p:nvSpPr>
        <p:spPr>
          <a:xfrm>
            <a:off x="6236208" y="5074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93408" y="498348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(docs/demo_video.mp4)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988552" y="4983480"/>
            <a:ext cx="2743200" cy="566928"/>
          </a:xfrm>
          <a:prstGeom prst="roundRect">
            <a:avLst>
              <a:gd name="adj" fmla="val 48387"/>
            </a:avLst>
          </a:prstGeom>
          <a:solidFill>
            <a:srgbClr val="1F1F45"/>
          </a:solidFill>
          <a:ln/>
        </p:spPr>
      </p:sp>
      <p:sp>
        <p:nvSpPr>
          <p:cNvPr id="50" name="Shape 48"/>
          <p:cNvSpPr/>
          <p:nvPr/>
        </p:nvSpPr>
        <p:spPr>
          <a:xfrm>
            <a:off x="9079992" y="5074920"/>
            <a:ext cx="384048" cy="384048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51" name="Text 49"/>
          <p:cNvSpPr/>
          <p:nvPr/>
        </p:nvSpPr>
        <p:spPr>
          <a:xfrm>
            <a:off x="9079992" y="5074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537192" y="498348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file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7200" y="57150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6D28D9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571500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</a:t>
            </a:r>
            <a:pPr algn="ctr" indent="0" marL="0">
              <a:buNone/>
            </a:pPr>
            <a:r>
              <a:rPr lang="en-US" sz="1300" dirty="0">
                <a:solidFill>
                  <a:srgbClr val="E4D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github.com/Phantom8420/Live-Rag-Streaming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Degenrates — Streaming Live RAG — PRISM Theme 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2026-09-26T15:48:38Z</dcterms:created>
  <dcterms:modified xsi:type="dcterms:W3CDTF">2026-09-26T15:48:38Z</dcterms:modified>
</cp:coreProperties>
</file>